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Roboto Slab" panose="020B060402020202020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BIS1qO8ahjbls5tUFd0OH5Usu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59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16102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Recap:</a:t>
            </a:r>
            <a:endParaRPr/>
          </a:p>
          <a:p>
            <a:pPr marL="0" lvl="0" indent="0" algn="l" rtl="0">
              <a:spcBef>
                <a:spcPts val="0"/>
              </a:spcBef>
              <a:spcAft>
                <a:spcPts val="0"/>
              </a:spcAft>
              <a:buNone/>
            </a:pPr>
            <a:r>
              <a:rPr lang="en-US"/>
              <a:t>Functions</a:t>
            </a:r>
            <a:endParaRPr/>
          </a:p>
          <a:p>
            <a:pPr marL="0" lvl="0" indent="0" algn="l" rtl="0">
              <a:spcBef>
                <a:spcPts val="0"/>
              </a:spcBef>
              <a:spcAft>
                <a:spcPts val="0"/>
              </a:spcAft>
              <a:buNone/>
            </a:pPr>
            <a:endParaRPr/>
          </a:p>
        </p:txBody>
      </p:sp>
      <p:sp>
        <p:nvSpPr>
          <p:cNvPr id="92" name="Google Shape;9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a:t>
            </a:fld>
            <a:endParaRPr>
              <a:solidFill>
                <a:srgbClr val="000000"/>
              </a:solidFill>
            </a:endParaRPr>
          </a:p>
        </p:txBody>
      </p:sp>
    </p:spTree>
    <p:extLst>
      <p:ext uri="{BB962C8B-B14F-4D97-AF65-F5344CB8AC3E}">
        <p14:creationId xmlns:p14="http://schemas.microsoft.com/office/powerpoint/2010/main" val="1874801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7404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c853c3223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c853c32233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gc853c32233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1279387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c853c32233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c853c32233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c853c32233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4024842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8715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8267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4203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8879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922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6999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1329203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536268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9220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4086930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776829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581274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4118639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449016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5011253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139476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3032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349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 name="Google Shape;2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cxnSp>
        <p:nvCxnSpPr>
          <p:cNvPr id="28" name="Google Shape;28;p26"/>
          <p:cNvCxnSpPr/>
          <p:nvPr/>
        </p:nvCxnSpPr>
        <p:spPr>
          <a:xfrm>
            <a:off x="656751" y="1680379"/>
            <a:ext cx="566400" cy="0"/>
          </a:xfrm>
          <a:prstGeom prst="straightConnector1">
            <a:avLst/>
          </a:prstGeom>
          <a:noFill/>
          <a:ln w="38100" cap="flat" cmpd="sng">
            <a:solidFill>
              <a:schemeClr val="accent4"/>
            </a:solidFill>
            <a:prstDash val="solid"/>
            <a:round/>
            <a:headEnd type="none" w="sm" len="sm"/>
            <a:tailEnd type="none" w="sm" len="sm"/>
          </a:ln>
        </p:spPr>
      </p:cxnSp>
      <p:sp>
        <p:nvSpPr>
          <p:cNvPr id="29" name="Google Shape;29;p26"/>
          <p:cNvSpPr txBox="1">
            <a:spLocks noGrp="1"/>
          </p:cNvSpPr>
          <p:nvPr>
            <p:ph type="title"/>
          </p:nvPr>
        </p:nvSpPr>
        <p:spPr>
          <a:xfrm>
            <a:off x="517200" y="610700"/>
            <a:ext cx="11157600" cy="9148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Clr>
                <a:schemeClr val="lt1"/>
              </a:buClr>
              <a:buSzPts val="3000"/>
              <a:buFont typeface="Calibri"/>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 name="Google Shape;30;p26"/>
          <p:cNvSpPr txBox="1">
            <a:spLocks noGrp="1"/>
          </p:cNvSpPr>
          <p:nvPr>
            <p:ph type="body" idx="1"/>
          </p:nvPr>
        </p:nvSpPr>
        <p:spPr>
          <a:xfrm>
            <a:off x="517200" y="1986432"/>
            <a:ext cx="11157600" cy="4105200"/>
          </a:xfrm>
          <a:prstGeom prst="rect">
            <a:avLst/>
          </a:prstGeom>
          <a:noFill/>
          <a:ln>
            <a:noFill/>
          </a:ln>
        </p:spPr>
        <p:txBody>
          <a:bodyPr spcFirstLastPara="1" wrap="square" lIns="91425" tIns="91425" rIns="91425" bIns="91425" anchor="t" anchorCtr="0">
            <a:noAutofit/>
          </a:bodyPr>
          <a:lstStyle>
            <a:lvl1pPr marL="457200" lvl="0" indent="-342900" algn="l">
              <a:lnSpc>
                <a:spcPct val="90000"/>
              </a:lnSpc>
              <a:spcBef>
                <a:spcPts val="0"/>
              </a:spcBef>
              <a:spcAft>
                <a:spcPts val="0"/>
              </a:spcAft>
              <a:buClr>
                <a:schemeClr val="lt1"/>
              </a:buClr>
              <a:buSzPts val="1800"/>
              <a:buChar char="●"/>
              <a:defRPr/>
            </a:lvl1pPr>
            <a:lvl2pPr marL="914400" lvl="1" indent="-317500" algn="l">
              <a:lnSpc>
                <a:spcPct val="90000"/>
              </a:lnSpc>
              <a:spcBef>
                <a:spcPts val="2133"/>
              </a:spcBef>
              <a:spcAft>
                <a:spcPts val="0"/>
              </a:spcAft>
              <a:buClr>
                <a:schemeClr val="lt1"/>
              </a:buClr>
              <a:buSzPts val="1400"/>
              <a:buChar char="○"/>
              <a:defRPr/>
            </a:lvl2pPr>
            <a:lvl3pPr marL="1371600" lvl="2" indent="-317500" algn="l">
              <a:lnSpc>
                <a:spcPct val="90000"/>
              </a:lnSpc>
              <a:spcBef>
                <a:spcPts val="2133"/>
              </a:spcBef>
              <a:spcAft>
                <a:spcPts val="0"/>
              </a:spcAft>
              <a:buClr>
                <a:schemeClr val="lt1"/>
              </a:buClr>
              <a:buSzPts val="1400"/>
              <a:buChar char="■"/>
              <a:defRPr/>
            </a:lvl3pPr>
            <a:lvl4pPr marL="1828800" lvl="3" indent="-317500" algn="l">
              <a:lnSpc>
                <a:spcPct val="90000"/>
              </a:lnSpc>
              <a:spcBef>
                <a:spcPts val="2133"/>
              </a:spcBef>
              <a:spcAft>
                <a:spcPts val="0"/>
              </a:spcAft>
              <a:buClr>
                <a:schemeClr val="lt1"/>
              </a:buClr>
              <a:buSzPts val="1400"/>
              <a:buChar char="●"/>
              <a:defRPr/>
            </a:lvl4pPr>
            <a:lvl5pPr marL="2286000" lvl="4" indent="-317500" algn="l">
              <a:lnSpc>
                <a:spcPct val="90000"/>
              </a:lnSpc>
              <a:spcBef>
                <a:spcPts val="2133"/>
              </a:spcBef>
              <a:spcAft>
                <a:spcPts val="0"/>
              </a:spcAft>
              <a:buClr>
                <a:schemeClr val="lt1"/>
              </a:buClr>
              <a:buSzPts val="1400"/>
              <a:buChar char="○"/>
              <a:defRPr/>
            </a:lvl5pPr>
            <a:lvl6pPr marL="2743200" lvl="5" indent="-317500" algn="l">
              <a:lnSpc>
                <a:spcPct val="90000"/>
              </a:lnSpc>
              <a:spcBef>
                <a:spcPts val="2133"/>
              </a:spcBef>
              <a:spcAft>
                <a:spcPts val="0"/>
              </a:spcAft>
              <a:buClr>
                <a:schemeClr val="lt1"/>
              </a:buClr>
              <a:buSzPts val="1400"/>
              <a:buChar char="■"/>
              <a:defRPr/>
            </a:lvl6pPr>
            <a:lvl7pPr marL="3200400" lvl="6" indent="-317500" algn="l">
              <a:lnSpc>
                <a:spcPct val="90000"/>
              </a:lnSpc>
              <a:spcBef>
                <a:spcPts val="2133"/>
              </a:spcBef>
              <a:spcAft>
                <a:spcPts val="0"/>
              </a:spcAft>
              <a:buClr>
                <a:schemeClr val="lt1"/>
              </a:buClr>
              <a:buSzPts val="1400"/>
              <a:buChar char="●"/>
              <a:defRPr/>
            </a:lvl7pPr>
            <a:lvl8pPr marL="3657600" lvl="7" indent="-317500" algn="l">
              <a:lnSpc>
                <a:spcPct val="90000"/>
              </a:lnSpc>
              <a:spcBef>
                <a:spcPts val="2133"/>
              </a:spcBef>
              <a:spcAft>
                <a:spcPts val="0"/>
              </a:spcAft>
              <a:buClr>
                <a:schemeClr val="lt1"/>
              </a:buClr>
              <a:buSzPts val="1400"/>
              <a:buChar char="○"/>
              <a:defRPr/>
            </a:lvl8pPr>
            <a:lvl9pPr marL="4114800" lvl="8" indent="-317500" algn="l">
              <a:lnSpc>
                <a:spcPct val="90000"/>
              </a:lnSpc>
              <a:spcBef>
                <a:spcPts val="2133"/>
              </a:spcBef>
              <a:spcAft>
                <a:spcPts val="2133"/>
              </a:spcAft>
              <a:buClr>
                <a:schemeClr val="lt1"/>
              </a:buClr>
              <a:buSzPts val="1400"/>
              <a:buChar char="■"/>
              <a:defRPr/>
            </a:lvl9pPr>
          </a:lstStyle>
          <a:p>
            <a:endParaRPr/>
          </a:p>
        </p:txBody>
      </p:sp>
      <p:sp>
        <p:nvSpPr>
          <p:cNvPr id="31" name="Google Shape;31;p2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lvl="0"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1pPr>
            <a:lvl2pPr marL="0" lvl="1"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2pPr>
            <a:lvl3pPr marL="0" lvl="2"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3pPr>
            <a:lvl4pPr marL="0" lvl="3"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4pPr>
            <a:lvl5pPr marL="0" lvl="4"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5pPr>
            <a:lvl6pPr marL="0" lvl="5"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6pPr>
            <a:lvl7pPr marL="0" lvl="6"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7pPr>
            <a:lvl8pPr marL="0" lvl="7"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8pPr>
            <a:lvl9pPr marL="0" lvl="8" indent="0" algn="r">
              <a:buClr>
                <a:schemeClr val="lt1"/>
              </a:buClr>
              <a:buSzPts val="1200"/>
              <a:buFont typeface="Calibri"/>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400"/>
              <a:buNone/>
              <a:defRPr sz="24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35" name="Google Shape;3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1" name="Google Shape;41;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2" name="Google Shape;4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8" name="Google Shape;48;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50" name="Google Shape;50;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 name="Google Shape;5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lt1"/>
              </a:buClr>
              <a:buSzPts val="3200"/>
              <a:buChar char="•"/>
              <a:defRPr sz="3200"/>
            </a:lvl1pPr>
            <a:lvl2pPr marL="914400" lvl="1" indent="-406400" algn="l">
              <a:lnSpc>
                <a:spcPct val="90000"/>
              </a:lnSpc>
              <a:spcBef>
                <a:spcPts val="500"/>
              </a:spcBef>
              <a:spcAft>
                <a:spcPts val="0"/>
              </a:spcAft>
              <a:buClr>
                <a:schemeClr val="lt1"/>
              </a:buClr>
              <a:buSzPts val="2800"/>
              <a:buChar char="•"/>
              <a:defRPr sz="2800"/>
            </a:lvl2pPr>
            <a:lvl3pPr marL="1371600" lvl="2" indent="-381000" algn="l">
              <a:lnSpc>
                <a:spcPct val="90000"/>
              </a:lnSpc>
              <a:spcBef>
                <a:spcPts val="500"/>
              </a:spcBef>
              <a:spcAft>
                <a:spcPts val="0"/>
              </a:spcAft>
              <a:buClr>
                <a:schemeClr val="lt1"/>
              </a:buClr>
              <a:buSzPts val="2400"/>
              <a:buChar char="•"/>
              <a:defRPr sz="2400"/>
            </a:lvl3pPr>
            <a:lvl4pPr marL="1828800" lvl="3" indent="-355600" algn="l">
              <a:lnSpc>
                <a:spcPct val="90000"/>
              </a:lnSpc>
              <a:spcBef>
                <a:spcPts val="500"/>
              </a:spcBef>
              <a:spcAft>
                <a:spcPts val="0"/>
              </a:spcAft>
              <a:buClr>
                <a:schemeClr val="lt1"/>
              </a:buClr>
              <a:buSzPts val="2000"/>
              <a:buChar char="•"/>
              <a:defRPr sz="2000"/>
            </a:lvl4pPr>
            <a:lvl5pPr marL="2286000" lvl="4" indent="-355600" algn="l">
              <a:lnSpc>
                <a:spcPct val="90000"/>
              </a:lnSpc>
              <a:spcBef>
                <a:spcPts val="500"/>
              </a:spcBef>
              <a:spcAft>
                <a:spcPts val="0"/>
              </a:spcAft>
              <a:buClr>
                <a:schemeClr val="lt1"/>
              </a:buClr>
              <a:buSzPts val="2000"/>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66" name="Google Shape;66;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7" name="Google Shape;6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33"/>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alibri"/>
                <a:ea typeface="Calibri"/>
                <a:cs typeface="Calibri"/>
                <a:sym typeface="Calibri"/>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alibri"/>
                <a:ea typeface="Calibri"/>
                <a:cs typeface="Calibri"/>
                <a:sym typeface="Calibri"/>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alibri"/>
                <a:ea typeface="Calibri"/>
                <a:cs typeface="Calibri"/>
                <a:sym typeface="Calibri"/>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9pPr>
          </a:lstStyle>
          <a:p>
            <a:endParaRPr/>
          </a:p>
        </p:txBody>
      </p:sp>
      <p:sp>
        <p:nvSpPr>
          <p:cNvPr id="73" name="Google Shape;73;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4" name="Google Shape;74;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0" name="Google Shape;80;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6" name="Google Shape;8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FFFFFF"/>
                </a:solidFill>
                <a:latin typeface="Calibri"/>
                <a:ea typeface="Calibri"/>
                <a:cs typeface="Calibri"/>
                <a:sym typeface="Calibri"/>
              </a:defRPr>
            </a:lvl1pPr>
            <a:lvl2pPr marL="0" marR="0" lvl="1" indent="0" algn="r" rtl="0">
              <a:spcBef>
                <a:spcPts val="0"/>
              </a:spcBef>
              <a:buNone/>
              <a:defRPr sz="1200" b="0" i="0" u="none" strike="noStrike" cap="none">
                <a:solidFill>
                  <a:srgbClr val="FFFFFF"/>
                </a:solidFill>
                <a:latin typeface="Calibri"/>
                <a:ea typeface="Calibri"/>
                <a:cs typeface="Calibri"/>
                <a:sym typeface="Calibri"/>
              </a:defRPr>
            </a:lvl2pPr>
            <a:lvl3pPr marL="0" marR="0" lvl="2" indent="0" algn="r" rtl="0">
              <a:spcBef>
                <a:spcPts val="0"/>
              </a:spcBef>
              <a:buNone/>
              <a:defRPr sz="1200" b="0" i="0" u="none" strike="noStrike" cap="none">
                <a:solidFill>
                  <a:srgbClr val="FFFFFF"/>
                </a:solidFill>
                <a:latin typeface="Calibri"/>
                <a:ea typeface="Calibri"/>
                <a:cs typeface="Calibri"/>
                <a:sym typeface="Calibri"/>
              </a:defRPr>
            </a:lvl3pPr>
            <a:lvl4pPr marL="0" marR="0" lvl="3" indent="0" algn="r" rtl="0">
              <a:spcBef>
                <a:spcPts val="0"/>
              </a:spcBef>
              <a:buNone/>
              <a:defRPr sz="1200" b="0" i="0" u="none" strike="noStrike" cap="none">
                <a:solidFill>
                  <a:srgbClr val="FFFFFF"/>
                </a:solidFill>
                <a:latin typeface="Calibri"/>
                <a:ea typeface="Calibri"/>
                <a:cs typeface="Calibri"/>
                <a:sym typeface="Calibri"/>
              </a:defRPr>
            </a:lvl4pPr>
            <a:lvl5pPr marL="0" marR="0" lvl="4" indent="0" algn="r" rtl="0">
              <a:spcBef>
                <a:spcPts val="0"/>
              </a:spcBef>
              <a:buNone/>
              <a:defRPr sz="1200" b="0" i="0" u="none" strike="noStrike" cap="none">
                <a:solidFill>
                  <a:srgbClr val="FFFFFF"/>
                </a:solidFill>
                <a:latin typeface="Calibri"/>
                <a:ea typeface="Calibri"/>
                <a:cs typeface="Calibri"/>
                <a:sym typeface="Calibri"/>
              </a:defRPr>
            </a:lvl5pPr>
            <a:lvl6pPr marL="0" marR="0" lvl="5" indent="0" algn="r" rtl="0">
              <a:spcBef>
                <a:spcPts val="0"/>
              </a:spcBef>
              <a:buNone/>
              <a:defRPr sz="1200" b="0" i="0" u="none" strike="noStrike" cap="none">
                <a:solidFill>
                  <a:srgbClr val="FFFFFF"/>
                </a:solidFill>
                <a:latin typeface="Calibri"/>
                <a:ea typeface="Calibri"/>
                <a:cs typeface="Calibri"/>
                <a:sym typeface="Calibri"/>
              </a:defRPr>
            </a:lvl6pPr>
            <a:lvl7pPr marL="0" marR="0" lvl="6" indent="0" algn="r" rtl="0">
              <a:spcBef>
                <a:spcPts val="0"/>
              </a:spcBef>
              <a:buNone/>
              <a:defRPr sz="1200" b="0" i="0" u="none" strike="noStrike" cap="none">
                <a:solidFill>
                  <a:srgbClr val="FFFFFF"/>
                </a:solidFill>
                <a:latin typeface="Calibri"/>
                <a:ea typeface="Calibri"/>
                <a:cs typeface="Calibri"/>
                <a:sym typeface="Calibri"/>
              </a:defRPr>
            </a:lvl7pPr>
            <a:lvl8pPr marL="0" marR="0" lvl="7" indent="0" algn="r" rtl="0">
              <a:spcBef>
                <a:spcPts val="0"/>
              </a:spcBef>
              <a:buNone/>
              <a:defRPr sz="1200" b="0" i="0" u="none" strike="noStrike" cap="none">
                <a:solidFill>
                  <a:srgbClr val="FFFFFF"/>
                </a:solidFill>
                <a:latin typeface="Calibri"/>
                <a:ea typeface="Calibri"/>
                <a:cs typeface="Calibri"/>
                <a:sym typeface="Calibri"/>
              </a:defRPr>
            </a:lvl8pPr>
            <a:lvl9pPr marL="0" marR="0" lvl="8" indent="0" algn="r" rtl="0">
              <a:spcBef>
                <a:spcPts val="0"/>
              </a:spcBef>
              <a:buNone/>
              <a:defRPr sz="12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127.0.0.1/api/user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41.70.32.5/people/students" TargetMode="External"/><Relationship Id="rId5" Type="http://schemas.openxmlformats.org/officeDocument/2006/relationships/hyperlink" Target="https://www.cc.ac.mw/people/students" TargetMode="External"/><Relationship Id="rId4" Type="http://schemas.openxmlformats.org/officeDocument/2006/relationships/hyperlink" Target="https://127.0.0.1:80/api/user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www.example.com/customers/12345"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hyperlink" Target="http://www.example.com/buckets/sample" TargetMode="External"/><Relationship Id="rId4" Type="http://schemas.openxmlformats.org/officeDocument/2006/relationships/hyperlink" Target="http://www.example.com/customers/12345/order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www.example.com/customers/12345"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hyperlink" Target="http://www.example.com/buckets/sample" TargetMode="External"/><Relationship Id="rId4" Type="http://schemas.openxmlformats.org/officeDocument/2006/relationships/hyperlink" Target="http://www.example.com/customers/12345/orders/98765"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www.example.com/customers/12345"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www.example.com/customers/12345/orders/98765"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www.example.com/customers/12345"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www.example.com/buckets/sample" TargetMode="External"/><Relationship Id="rId4" Type="http://schemas.openxmlformats.org/officeDocument/2006/relationships/hyperlink" Target="http://www.example.com/customers/12345/orders/98765"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postman.com/"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about:blank"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l.acm.org/doi/10.1145/514183.514185"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martinfowler.com/articles/richardsonMaturityMode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6000"/>
              <a:buFont typeface="Calibri"/>
              <a:buNone/>
            </a:pPr>
            <a:r>
              <a:rPr lang="en-US"/>
              <a:t>INF221 - Web Design &amp; Development: REST</a:t>
            </a:r>
            <a:endParaRPr/>
          </a:p>
        </p:txBody>
      </p:sp>
      <p:sp>
        <p:nvSpPr>
          <p:cNvPr id="95" name="Google Shape;9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2400"/>
              <a:buNone/>
            </a:pPr>
            <a:endParaRPr/>
          </a:p>
          <a:p>
            <a:pPr marL="0" lvl="0" indent="0" algn="ctr" rtl="0">
              <a:lnSpc>
                <a:spcPct val="90000"/>
              </a:lnSpc>
              <a:spcBef>
                <a:spcPts val="1000"/>
              </a:spcBef>
              <a:spcAft>
                <a:spcPts val="0"/>
              </a:spcAft>
              <a:buClr>
                <a:schemeClr val="lt1"/>
              </a:buClr>
              <a:buSzPts val="2400"/>
              <a:buNone/>
            </a:pPr>
            <a:r>
              <a:rPr lang="en-US"/>
              <a:t>Isaac S. Mwakabira</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Introductions</a:t>
            </a:r>
            <a:endParaRPr/>
          </a:p>
        </p:txBody>
      </p:sp>
      <p:sp>
        <p:nvSpPr>
          <p:cNvPr id="101" name="Google Shape;10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800"/>
              <a:buChar char="•"/>
            </a:pPr>
            <a:r>
              <a:rPr lang="en-US" dirty="0" smtClean="0"/>
              <a:t>Web APIs</a:t>
            </a:r>
            <a:endParaRPr dirty="0" smtClean="0"/>
          </a:p>
          <a:p>
            <a:pPr marL="228600" lvl="0" indent="-228600" algn="l" rtl="0">
              <a:lnSpc>
                <a:spcPct val="90000"/>
              </a:lnSpc>
              <a:spcBef>
                <a:spcPts val="1000"/>
              </a:spcBef>
              <a:spcAft>
                <a:spcPts val="0"/>
              </a:spcAft>
              <a:buClr>
                <a:schemeClr val="lt1"/>
              </a:buClr>
              <a:buSzPts val="2800"/>
              <a:buChar char="•"/>
            </a:pPr>
            <a:r>
              <a:rPr lang="en-US" dirty="0" smtClean="0"/>
              <a:t>URI </a:t>
            </a:r>
            <a:r>
              <a:rPr lang="en-US" dirty="0"/>
              <a:t>vs. URL</a:t>
            </a:r>
            <a:endParaRPr dirty="0"/>
          </a:p>
          <a:p>
            <a:pPr marL="228600" lvl="0" indent="-228600" algn="l" rtl="0">
              <a:lnSpc>
                <a:spcPct val="90000"/>
              </a:lnSpc>
              <a:spcBef>
                <a:spcPts val="1000"/>
              </a:spcBef>
              <a:spcAft>
                <a:spcPts val="0"/>
              </a:spcAft>
              <a:buClr>
                <a:schemeClr val="lt1"/>
              </a:buClr>
              <a:buSzPts val="2800"/>
              <a:buChar char="•"/>
            </a:pPr>
            <a:r>
              <a:rPr lang="en-US" dirty="0" smtClean="0"/>
              <a:t>API </a:t>
            </a:r>
            <a:r>
              <a:rPr lang="en-US" dirty="0"/>
              <a:t>– Application Programming Interface, and examples</a:t>
            </a:r>
            <a:endParaRPr dirty="0"/>
          </a:p>
          <a:p>
            <a:pPr marL="228600" lvl="0" indent="-228600" algn="l" rtl="0">
              <a:lnSpc>
                <a:spcPct val="90000"/>
              </a:lnSpc>
              <a:spcBef>
                <a:spcPts val="1000"/>
              </a:spcBef>
              <a:spcAft>
                <a:spcPts val="0"/>
              </a:spcAft>
              <a:buClr>
                <a:schemeClr val="lt1"/>
              </a:buClr>
              <a:buSzPts val="2800"/>
              <a:buChar char="•"/>
            </a:pPr>
            <a:r>
              <a:rPr lang="en-US" dirty="0"/>
              <a:t>REST(</a:t>
            </a:r>
            <a:r>
              <a:rPr lang="en-US" dirty="0" err="1"/>
              <a:t>ful</a:t>
            </a:r>
            <a:r>
              <a:rPr lang="en-US" dirty="0"/>
              <a:t>) APIs, and examples</a:t>
            </a:r>
            <a:endParaRPr dirty="0"/>
          </a:p>
          <a:p>
            <a:pPr marL="228600" lvl="0" indent="-50800" algn="l" rtl="0">
              <a:lnSpc>
                <a:spcPct val="90000"/>
              </a:lnSpc>
              <a:spcBef>
                <a:spcPts val="1000"/>
              </a:spcBef>
              <a:spcAft>
                <a:spcPts val="0"/>
              </a:spcAft>
              <a:buClr>
                <a:schemeClr val="lt1"/>
              </a:buClr>
              <a:buSzPts val="2800"/>
              <a:buNone/>
            </a:pP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c853c32233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APIs</a:t>
            </a:r>
            <a:endParaRPr/>
          </a:p>
        </p:txBody>
      </p:sp>
      <p:sp>
        <p:nvSpPr>
          <p:cNvPr id="108" name="Google Shape;108;gc853c32233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a:t>Communication - focus</a:t>
            </a:r>
            <a:endParaRPr/>
          </a:p>
          <a:p>
            <a:pPr marL="457200" lvl="0" indent="-342900" algn="l" rtl="0">
              <a:spcBef>
                <a:spcPts val="0"/>
              </a:spcBef>
              <a:spcAft>
                <a:spcPts val="0"/>
              </a:spcAft>
              <a:buSzPts val="1800"/>
              <a:buChar char="●"/>
            </a:pPr>
            <a:r>
              <a:rPr lang="en-US"/>
              <a:t>Abstraction</a:t>
            </a:r>
            <a:endParaRPr/>
          </a:p>
          <a:p>
            <a:pPr marL="457200" lvl="0" indent="-342900" algn="l" rtl="0">
              <a:spcBef>
                <a:spcPts val="0"/>
              </a:spcBef>
              <a:spcAft>
                <a:spcPts val="0"/>
              </a:spcAft>
              <a:buSzPts val="1800"/>
              <a:buChar char="●"/>
            </a:pPr>
            <a:r>
              <a:rPr lang="en-US"/>
              <a:t>Standardized</a:t>
            </a:r>
            <a:endParaRPr/>
          </a:p>
          <a:p>
            <a:pPr marL="914400" lvl="1" indent="-342900" algn="l" rtl="0">
              <a:spcBef>
                <a:spcPts val="0"/>
              </a:spcBef>
              <a:spcAft>
                <a:spcPts val="0"/>
              </a:spcAft>
              <a:buSzPts val="1800"/>
              <a:buChar char="○"/>
            </a:pPr>
            <a:r>
              <a:rPr lang="en-US"/>
              <a:t>GraphQL - SOAP</a:t>
            </a:r>
            <a:endParaRPr/>
          </a:p>
          <a:p>
            <a:pPr marL="914400" lvl="1" indent="-342900" algn="l" rtl="0">
              <a:spcBef>
                <a:spcPts val="0"/>
              </a:spcBef>
              <a:spcAft>
                <a:spcPts val="0"/>
              </a:spcAft>
              <a:buSzPts val="1800"/>
              <a:buChar char="○"/>
            </a:pPr>
            <a:r>
              <a:rPr lang="en-US"/>
              <a:t>REST - HTTP/HTTPs</a:t>
            </a:r>
            <a:endParaRPr/>
          </a:p>
          <a:p>
            <a:pPr marL="457200" lvl="0" indent="-342900" algn="l" rtl="0">
              <a:spcBef>
                <a:spcPts val="0"/>
              </a:spcBef>
              <a:spcAft>
                <a:spcPts val="0"/>
              </a:spcAft>
              <a:buSzPts val="1800"/>
              <a:buChar char="●"/>
            </a:pP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c853c32233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APIs vs. SDKs</a:t>
            </a:r>
            <a:endParaRPr/>
          </a:p>
        </p:txBody>
      </p:sp>
      <p:sp>
        <p:nvSpPr>
          <p:cNvPr id="115" name="Google Shape;115;gc853c32233_0_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t>Standard Dev. </a:t>
            </a:r>
            <a:r>
              <a:rPr lang="en-US" dirty="0" smtClean="0"/>
              <a:t>Kit (SDK)</a:t>
            </a:r>
            <a:endParaRPr dirty="0"/>
          </a:p>
          <a:p>
            <a:pPr marL="457200" lvl="0" indent="-342900" algn="l" rtl="0">
              <a:spcBef>
                <a:spcPts val="0"/>
              </a:spcBef>
              <a:spcAft>
                <a:spcPts val="0"/>
              </a:spcAft>
              <a:buSzPts val="1800"/>
              <a:buChar char="●"/>
            </a:pPr>
            <a:r>
              <a:rPr lang="en-US" dirty="0"/>
              <a:t>Toolbox or code that calls </a:t>
            </a:r>
            <a:r>
              <a:rPr lang="en-US" dirty="0" err="1"/>
              <a:t>apis</a:t>
            </a:r>
            <a:r>
              <a:rPr lang="en-US" dirty="0"/>
              <a:t> for you</a:t>
            </a:r>
            <a:endParaRPr dirty="0"/>
          </a:p>
          <a:p>
            <a:pPr marL="457200" lvl="0" indent="-342900" algn="l" rtl="0">
              <a:spcBef>
                <a:spcPts val="0"/>
              </a:spcBef>
              <a:spcAft>
                <a:spcPts val="0"/>
              </a:spcAft>
              <a:buSzPts val="1800"/>
              <a:buChar char="●"/>
            </a:pPr>
            <a:r>
              <a:rPr lang="en-US" dirty="0"/>
              <a:t>Languages: JAVA, PYTHON, </a:t>
            </a:r>
            <a:r>
              <a:rPr lang="en-US" dirty="0" err="1"/>
              <a:t>etc</a:t>
            </a:r>
            <a:endParaRPr dirty="0"/>
          </a:p>
          <a:p>
            <a:pPr marL="457200" lvl="0" indent="-342900" algn="l" rtl="0">
              <a:spcBef>
                <a:spcPts val="0"/>
              </a:spcBef>
              <a:spcAft>
                <a:spcPts val="0"/>
              </a:spcAft>
              <a:buSzPts val="1800"/>
              <a:buChar char="●"/>
            </a:pPr>
            <a:r>
              <a:rPr lang="en-US" dirty="0"/>
              <a:t>Put Diagram Here</a:t>
            </a: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URI vs. URL</a:t>
            </a:r>
            <a:endParaRPr/>
          </a:p>
        </p:txBody>
      </p:sp>
      <p:sp>
        <p:nvSpPr>
          <p:cNvPr id="133" name="Google Shape;133;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chemeClr val="lt1"/>
              </a:buClr>
              <a:buSzPts val="2800"/>
              <a:buChar char="•"/>
            </a:pPr>
            <a:r>
              <a:rPr lang="en-US"/>
              <a:t>URI – Universal </a:t>
            </a:r>
            <a:r>
              <a:rPr lang="en-US" b="1"/>
              <a:t>Resource</a:t>
            </a:r>
            <a:r>
              <a:rPr lang="en-US"/>
              <a:t> Identifier</a:t>
            </a:r>
            <a:endParaRPr/>
          </a:p>
          <a:p>
            <a:pPr marL="685800" lvl="1" indent="-228600" algn="l" rtl="0">
              <a:lnSpc>
                <a:spcPct val="80000"/>
              </a:lnSpc>
              <a:spcBef>
                <a:spcPts val="500"/>
              </a:spcBef>
              <a:spcAft>
                <a:spcPts val="0"/>
              </a:spcAft>
              <a:buClr>
                <a:schemeClr val="lt1"/>
              </a:buClr>
              <a:buSzPts val="2400"/>
              <a:buChar char="•"/>
            </a:pPr>
            <a:r>
              <a:rPr lang="en-US"/>
              <a:t> Defined as any character string that identifies a resource on a particular server over the HTTP/s protocol</a:t>
            </a:r>
            <a:endParaRPr/>
          </a:p>
          <a:p>
            <a:pPr marL="228600" lvl="0" indent="-228600" algn="l" rtl="0">
              <a:lnSpc>
                <a:spcPct val="80000"/>
              </a:lnSpc>
              <a:spcBef>
                <a:spcPts val="1000"/>
              </a:spcBef>
              <a:spcAft>
                <a:spcPts val="0"/>
              </a:spcAft>
              <a:buClr>
                <a:schemeClr val="lt1"/>
              </a:buClr>
              <a:buSzPts val="2800"/>
              <a:buChar char="•"/>
            </a:pPr>
            <a:r>
              <a:rPr lang="en-US"/>
              <a:t>URL – Unified </a:t>
            </a:r>
            <a:r>
              <a:rPr lang="en-US" b="1"/>
              <a:t>Resource</a:t>
            </a:r>
            <a:r>
              <a:rPr lang="en-US"/>
              <a:t> Locator</a:t>
            </a:r>
            <a:endParaRPr/>
          </a:p>
          <a:p>
            <a:pPr marL="685800" lvl="1" indent="-228600" algn="l" rtl="0">
              <a:lnSpc>
                <a:spcPct val="80000"/>
              </a:lnSpc>
              <a:spcBef>
                <a:spcPts val="500"/>
              </a:spcBef>
              <a:spcAft>
                <a:spcPts val="0"/>
              </a:spcAft>
              <a:buClr>
                <a:schemeClr val="lt1"/>
              </a:buClr>
              <a:buSzPts val="2400"/>
              <a:buChar char="•"/>
            </a:pPr>
            <a:r>
              <a:rPr lang="en-US"/>
              <a:t>Specific type of URI</a:t>
            </a:r>
            <a:endParaRPr/>
          </a:p>
          <a:p>
            <a:pPr marL="685800" lvl="1" indent="-228600" algn="l" rtl="0">
              <a:lnSpc>
                <a:spcPct val="80000"/>
              </a:lnSpc>
              <a:spcBef>
                <a:spcPts val="500"/>
              </a:spcBef>
              <a:spcAft>
                <a:spcPts val="0"/>
              </a:spcAft>
              <a:buClr>
                <a:schemeClr val="lt1"/>
              </a:buClr>
              <a:buSzPts val="2400"/>
              <a:buChar char="•"/>
            </a:pPr>
            <a:r>
              <a:rPr lang="en-US"/>
              <a:t>Locates an existing </a:t>
            </a:r>
            <a:r>
              <a:rPr lang="en-US" b="1"/>
              <a:t>RESOURCE</a:t>
            </a:r>
            <a:r>
              <a:rPr lang="en-US"/>
              <a:t> on the internet, the client (browser or tools like </a:t>
            </a:r>
            <a:r>
              <a:rPr lang="en-US" b="1"/>
              <a:t>POSTMAN</a:t>
            </a:r>
            <a:r>
              <a:rPr lang="en-US"/>
              <a:t>) makes a request to a server for the resource over HTTP/s protocol.</a:t>
            </a:r>
            <a:endParaRPr/>
          </a:p>
          <a:p>
            <a:pPr marL="685800" lvl="1" indent="-228600" algn="l" rtl="0">
              <a:lnSpc>
                <a:spcPct val="80000"/>
              </a:lnSpc>
              <a:spcBef>
                <a:spcPts val="500"/>
              </a:spcBef>
              <a:spcAft>
                <a:spcPts val="0"/>
              </a:spcAft>
              <a:buClr>
                <a:schemeClr val="lt1"/>
              </a:buClr>
              <a:buSzPts val="2400"/>
              <a:buChar char="•"/>
            </a:pPr>
            <a:r>
              <a:rPr lang="en-US"/>
              <a:t>Defined as URIs that identify a resource by its location or by the means used to access it, rather than by a name or other attribute of the resource.</a:t>
            </a:r>
            <a:endParaRPr/>
          </a:p>
          <a:p>
            <a:pPr marL="228600" lvl="0" indent="-228600" algn="l" rtl="0">
              <a:lnSpc>
                <a:spcPct val="80000"/>
              </a:lnSpc>
              <a:spcBef>
                <a:spcPts val="1000"/>
              </a:spcBef>
              <a:spcAft>
                <a:spcPts val="0"/>
              </a:spcAft>
              <a:buClr>
                <a:schemeClr val="lt1"/>
              </a:buClr>
              <a:buSzPts val="2800"/>
              <a:buChar char="•"/>
            </a:pPr>
            <a:r>
              <a:rPr lang="en-US"/>
              <a:t>Resource – uniquely identifiable object on the internet</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URI vs. URL…</a:t>
            </a:r>
            <a:endParaRPr/>
          </a:p>
        </p:txBody>
      </p:sp>
      <p:sp>
        <p:nvSpPr>
          <p:cNvPr id="139" name="Google Shape;13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800"/>
              <a:buChar char="•"/>
            </a:pPr>
            <a:r>
              <a:rPr lang="en-US"/>
              <a:t>General definition</a:t>
            </a:r>
            <a:endParaRPr/>
          </a:p>
          <a:p>
            <a:pPr marL="685800" lvl="1" indent="-228600" algn="l" rtl="0">
              <a:lnSpc>
                <a:spcPct val="90000"/>
              </a:lnSpc>
              <a:spcBef>
                <a:spcPts val="500"/>
              </a:spcBef>
              <a:spcAft>
                <a:spcPts val="0"/>
              </a:spcAft>
              <a:buClr>
                <a:schemeClr val="lt1"/>
              </a:buClr>
              <a:buSzPts val="2400"/>
              <a:buChar char="•"/>
            </a:pPr>
            <a:r>
              <a:rPr lang="en-US"/>
              <a:t> scheme://host[:port#]/path/.../[;url-params][?query-string][#anchor]</a:t>
            </a:r>
            <a:endParaRPr/>
          </a:p>
          <a:p>
            <a:pPr marL="685800" lvl="1" indent="-228600" algn="l" rtl="0">
              <a:lnSpc>
                <a:spcPct val="90000"/>
              </a:lnSpc>
              <a:spcBef>
                <a:spcPts val="500"/>
              </a:spcBef>
              <a:spcAft>
                <a:spcPts val="0"/>
              </a:spcAft>
              <a:buClr>
                <a:schemeClr val="lt1"/>
              </a:buClr>
              <a:buSzPts val="2400"/>
              <a:buChar char="•"/>
            </a:pPr>
            <a:r>
              <a:rPr lang="en-US"/>
              <a:t>Example: </a:t>
            </a:r>
            <a:endParaRPr/>
          </a:p>
          <a:p>
            <a:pPr marL="1143000" lvl="2" indent="-228600" algn="l" rtl="0">
              <a:lnSpc>
                <a:spcPct val="90000"/>
              </a:lnSpc>
              <a:spcBef>
                <a:spcPts val="500"/>
              </a:spcBef>
              <a:spcAft>
                <a:spcPts val="0"/>
              </a:spcAft>
              <a:buClr>
                <a:schemeClr val="lt1"/>
              </a:buClr>
              <a:buSzPts val="2000"/>
              <a:buChar char="•"/>
            </a:pPr>
            <a:r>
              <a:rPr lang="en-US" u="sng">
                <a:solidFill>
                  <a:schemeClr val="hlink"/>
                </a:solidFill>
                <a:hlinkClick r:id="rId3"/>
              </a:rPr>
              <a:t>http://127.0.0.1:80/api/users</a:t>
            </a:r>
            <a:endParaRPr/>
          </a:p>
          <a:p>
            <a:pPr marL="1143000" lvl="2" indent="-228600" algn="l" rtl="0">
              <a:lnSpc>
                <a:spcPct val="90000"/>
              </a:lnSpc>
              <a:spcBef>
                <a:spcPts val="500"/>
              </a:spcBef>
              <a:spcAft>
                <a:spcPts val="0"/>
              </a:spcAft>
              <a:buClr>
                <a:schemeClr val="lt1"/>
              </a:buClr>
              <a:buSzPts val="2000"/>
              <a:buChar char="•"/>
            </a:pPr>
            <a:r>
              <a:rPr lang="en-US" u="sng">
                <a:solidFill>
                  <a:schemeClr val="hlink"/>
                </a:solidFill>
                <a:hlinkClick r:id="rId4"/>
              </a:rPr>
              <a:t>https://127.0.0.1:80/api/users</a:t>
            </a:r>
            <a:endParaRPr/>
          </a:p>
          <a:p>
            <a:pPr marL="1143000" lvl="2" indent="-228600" algn="l" rtl="0">
              <a:lnSpc>
                <a:spcPct val="90000"/>
              </a:lnSpc>
              <a:spcBef>
                <a:spcPts val="500"/>
              </a:spcBef>
              <a:spcAft>
                <a:spcPts val="0"/>
              </a:spcAft>
              <a:buClr>
                <a:schemeClr val="lt1"/>
              </a:buClr>
              <a:buSzPts val="2000"/>
              <a:buChar char="•"/>
            </a:pPr>
            <a:r>
              <a:rPr lang="en-US" u="sng">
                <a:solidFill>
                  <a:schemeClr val="hlink"/>
                </a:solidFill>
                <a:hlinkClick r:id="rId5"/>
              </a:rPr>
              <a:t>https://www.cc.ac.mw/people/students</a:t>
            </a:r>
            <a:endParaRPr/>
          </a:p>
          <a:p>
            <a:pPr marL="1143000" lvl="2" indent="-228600" algn="l" rtl="0">
              <a:lnSpc>
                <a:spcPct val="90000"/>
              </a:lnSpc>
              <a:spcBef>
                <a:spcPts val="500"/>
              </a:spcBef>
              <a:spcAft>
                <a:spcPts val="0"/>
              </a:spcAft>
              <a:buClr>
                <a:schemeClr val="lt1"/>
              </a:buClr>
              <a:buSzPts val="2000"/>
              <a:buChar char="•"/>
            </a:pPr>
            <a:r>
              <a:rPr lang="en-US" u="sng">
                <a:solidFill>
                  <a:schemeClr val="hlink"/>
                </a:solidFill>
                <a:hlinkClick r:id="rId6"/>
              </a:rPr>
              <a:t>https://41.70.32.5/people/students</a:t>
            </a:r>
            <a:endParaRPr/>
          </a:p>
          <a:p>
            <a:pPr marL="228600" lvl="0" indent="-50800" algn="l" rtl="0">
              <a:lnSpc>
                <a:spcPct val="90000"/>
              </a:lnSpc>
              <a:spcBef>
                <a:spcPts val="1000"/>
              </a:spcBef>
              <a:spcAft>
                <a:spcPts val="0"/>
              </a:spcAft>
              <a:buClr>
                <a:schemeClr val="lt1"/>
              </a:buClr>
              <a:buSzPts val="2800"/>
              <a:buNone/>
            </a:pPr>
            <a:endParaRPr/>
          </a:p>
          <a:p>
            <a:pPr marL="228600" lvl="0" indent="-50800" algn="l" rtl="0">
              <a:lnSpc>
                <a:spcPct val="90000"/>
              </a:lnSpc>
              <a:spcBef>
                <a:spcPts val="1000"/>
              </a:spcBef>
              <a:spcAft>
                <a:spcPts val="0"/>
              </a:spcAft>
              <a:buClr>
                <a:schemeClr val="lt1"/>
              </a:buClr>
              <a:buSzPts val="2800"/>
              <a:buNone/>
            </a:pP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URI vs. URL…</a:t>
            </a:r>
            <a:endParaRPr/>
          </a:p>
        </p:txBody>
      </p:sp>
      <p:sp>
        <p:nvSpPr>
          <p:cNvPr id="145" name="Google Shape;145;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chemeClr val="lt1"/>
              </a:buClr>
              <a:buSzPts val="2800"/>
              <a:buChar char="•"/>
            </a:pPr>
            <a:r>
              <a:rPr lang="en-US" dirty="0"/>
              <a:t>Parts of URL for HTTP/s protocol</a:t>
            </a:r>
            <a:endParaRPr dirty="0"/>
          </a:p>
          <a:p>
            <a:pPr marL="685800" lvl="1" indent="-228600" algn="l" rtl="0">
              <a:lnSpc>
                <a:spcPct val="80000"/>
              </a:lnSpc>
              <a:spcBef>
                <a:spcPts val="500"/>
              </a:spcBef>
              <a:spcAft>
                <a:spcPts val="0"/>
              </a:spcAft>
              <a:buClr>
                <a:srgbClr val="FFFF00"/>
              </a:buClr>
              <a:buSzPts val="2400"/>
              <a:buChar char="•"/>
            </a:pPr>
            <a:r>
              <a:rPr lang="en-US" dirty="0">
                <a:solidFill>
                  <a:srgbClr val="FFFF00"/>
                </a:solidFill>
              </a:rPr>
              <a:t>Scheme</a:t>
            </a:r>
            <a:r>
              <a:rPr lang="en-US" dirty="0"/>
              <a:t> – identifies the protocol used to access the resource on the Internet. Can be HTTP (without SSL) or HTTPS (with SSL)</a:t>
            </a:r>
            <a:endParaRPr dirty="0"/>
          </a:p>
          <a:p>
            <a:pPr marL="685800" lvl="1" indent="-228600" algn="l" rtl="0">
              <a:lnSpc>
                <a:spcPct val="80000"/>
              </a:lnSpc>
              <a:spcBef>
                <a:spcPts val="500"/>
              </a:spcBef>
              <a:spcAft>
                <a:spcPts val="0"/>
              </a:spcAft>
              <a:buClr>
                <a:srgbClr val="FFFF00"/>
              </a:buClr>
              <a:buSzPts val="2400"/>
              <a:buChar char="•"/>
            </a:pPr>
            <a:r>
              <a:rPr lang="en-US" dirty="0">
                <a:solidFill>
                  <a:srgbClr val="FFFF00"/>
                </a:solidFill>
              </a:rPr>
              <a:t>Host</a:t>
            </a:r>
            <a:r>
              <a:rPr lang="en-US" dirty="0"/>
              <a:t> – identifies where the resource is held, the host that holds the resource</a:t>
            </a:r>
            <a:endParaRPr dirty="0"/>
          </a:p>
          <a:p>
            <a:pPr marL="685800" lvl="1" indent="-228600" algn="l" rtl="0">
              <a:lnSpc>
                <a:spcPct val="80000"/>
              </a:lnSpc>
              <a:spcBef>
                <a:spcPts val="500"/>
              </a:spcBef>
              <a:spcAft>
                <a:spcPts val="0"/>
              </a:spcAft>
              <a:buClr>
                <a:srgbClr val="FFFF00"/>
              </a:buClr>
              <a:buSzPts val="2400"/>
              <a:buChar char="•"/>
            </a:pPr>
            <a:r>
              <a:rPr lang="en-US" dirty="0">
                <a:solidFill>
                  <a:srgbClr val="FFFF00"/>
                </a:solidFill>
              </a:rPr>
              <a:t>Path</a:t>
            </a:r>
            <a:r>
              <a:rPr lang="en-US" dirty="0"/>
              <a:t> - identifies the specific resource in the host that the web client wants to access.</a:t>
            </a:r>
            <a:endParaRPr dirty="0"/>
          </a:p>
          <a:p>
            <a:pPr marL="685800" lvl="1" indent="-228600" algn="l" rtl="0">
              <a:lnSpc>
                <a:spcPct val="80000"/>
              </a:lnSpc>
              <a:spcBef>
                <a:spcPts val="500"/>
              </a:spcBef>
              <a:spcAft>
                <a:spcPts val="0"/>
              </a:spcAft>
              <a:buClr>
                <a:srgbClr val="FFFF00"/>
              </a:buClr>
              <a:buSzPts val="2400"/>
              <a:buChar char="•"/>
            </a:pPr>
            <a:r>
              <a:rPr lang="en-US" dirty="0">
                <a:solidFill>
                  <a:srgbClr val="FFFF00"/>
                </a:solidFill>
              </a:rPr>
              <a:t>Query</a:t>
            </a:r>
            <a:r>
              <a:rPr lang="en-US" dirty="0"/>
              <a:t> string - provides a string of information that the resource can use. usually a string of name and value pairs </a:t>
            </a:r>
            <a:r>
              <a:rPr lang="en-US" dirty="0" err="1"/>
              <a:t>ie</a:t>
            </a:r>
            <a:r>
              <a:rPr lang="en-US" dirty="0"/>
              <a:t>. </a:t>
            </a:r>
            <a:r>
              <a:rPr lang="en-US" dirty="0">
                <a:solidFill>
                  <a:srgbClr val="FFFF00"/>
                </a:solidFill>
              </a:rPr>
              <a:t>term=john</a:t>
            </a:r>
            <a:endParaRPr dirty="0"/>
          </a:p>
          <a:p>
            <a:pPr marL="1143000" lvl="2" indent="-228600" algn="l" rtl="0">
              <a:lnSpc>
                <a:spcPct val="80000"/>
              </a:lnSpc>
              <a:spcBef>
                <a:spcPts val="500"/>
              </a:spcBef>
              <a:spcAft>
                <a:spcPts val="0"/>
              </a:spcAft>
              <a:buClr>
                <a:schemeClr val="lt1"/>
              </a:buClr>
              <a:buSzPts val="2000"/>
              <a:buChar char="•"/>
            </a:pPr>
            <a:r>
              <a:rPr lang="en-US" dirty="0"/>
              <a:t>Name and value pairs are separated by an ampersand </a:t>
            </a:r>
            <a:r>
              <a:rPr lang="en-US" dirty="0">
                <a:solidFill>
                  <a:srgbClr val="00B050"/>
                </a:solidFill>
              </a:rPr>
              <a:t>(&amp;)</a:t>
            </a:r>
            <a:r>
              <a:rPr lang="en-US" dirty="0"/>
              <a:t>.</a:t>
            </a:r>
            <a:endParaRPr dirty="0"/>
          </a:p>
          <a:p>
            <a:pPr marL="1143000" lvl="2" indent="-228600" algn="l" rtl="0">
              <a:lnSpc>
                <a:spcPct val="80000"/>
              </a:lnSpc>
              <a:spcBef>
                <a:spcPts val="500"/>
              </a:spcBef>
              <a:spcAft>
                <a:spcPts val="0"/>
              </a:spcAft>
              <a:buClr>
                <a:schemeClr val="lt1"/>
              </a:buClr>
              <a:buSzPts val="2000"/>
              <a:buChar char="•"/>
            </a:pPr>
            <a:r>
              <a:rPr lang="en-US" dirty="0"/>
              <a:t>i.e. </a:t>
            </a:r>
            <a:r>
              <a:rPr lang="en-US" dirty="0">
                <a:solidFill>
                  <a:srgbClr val="FFFF00"/>
                </a:solidFill>
              </a:rPr>
              <a:t>term=</a:t>
            </a:r>
            <a:r>
              <a:rPr lang="en-US" dirty="0" err="1">
                <a:solidFill>
                  <a:srgbClr val="FFFF00"/>
                </a:solidFill>
              </a:rPr>
              <a:t>John&amp;sort</a:t>
            </a:r>
            <a:r>
              <a:rPr lang="en-US" dirty="0">
                <a:solidFill>
                  <a:srgbClr val="FFFF00"/>
                </a:solidFill>
              </a:rPr>
              <a:t>=</a:t>
            </a:r>
            <a:r>
              <a:rPr lang="en-US" dirty="0" err="1">
                <a:solidFill>
                  <a:srgbClr val="FFFF00"/>
                </a:solidFill>
              </a:rPr>
              <a:t>DESC&amp;limit</a:t>
            </a:r>
            <a:r>
              <a:rPr lang="en-US" dirty="0">
                <a:solidFill>
                  <a:srgbClr val="FFFF00"/>
                </a:solidFill>
              </a:rPr>
              <a:t>=12</a:t>
            </a:r>
            <a:endParaRPr dirty="0">
              <a:solidFill>
                <a:srgbClr val="FFFF00"/>
              </a:solidFill>
            </a:endParaRPr>
          </a:p>
          <a:p>
            <a:pPr marL="685800" lvl="1" indent="-228600" algn="l" rtl="0">
              <a:lnSpc>
                <a:spcPct val="80000"/>
              </a:lnSpc>
              <a:spcBef>
                <a:spcPts val="500"/>
              </a:spcBef>
              <a:spcAft>
                <a:spcPts val="0"/>
              </a:spcAft>
              <a:buClr>
                <a:srgbClr val="FFFF00"/>
              </a:buClr>
              <a:buSzPts val="2400"/>
              <a:buChar char="•"/>
            </a:pPr>
            <a:r>
              <a:rPr lang="en-US" dirty="0">
                <a:solidFill>
                  <a:srgbClr val="FFFF00"/>
                </a:solidFill>
              </a:rPr>
              <a:t>Anchor</a:t>
            </a:r>
            <a:r>
              <a:rPr lang="en-US" dirty="0"/>
              <a:t> – identifies a fragment in a page resource i.e. especially if a resource is a web page</a:t>
            </a:r>
            <a:endParaRPr dirty="0"/>
          </a:p>
          <a:p>
            <a:pPr marL="1143000" lvl="2" indent="-228600" algn="l" rtl="0">
              <a:lnSpc>
                <a:spcPct val="80000"/>
              </a:lnSpc>
              <a:spcBef>
                <a:spcPts val="500"/>
              </a:spcBef>
              <a:spcAft>
                <a:spcPts val="0"/>
              </a:spcAft>
              <a:buClr>
                <a:schemeClr val="lt1"/>
              </a:buClr>
              <a:buSzPts val="2000"/>
              <a:buChar char="•"/>
            </a:pPr>
            <a:r>
              <a:rPr lang="en-US" dirty="0"/>
              <a:t>https://martinfowler.com/articles/richardsonMaturityModel.html</a:t>
            </a:r>
            <a:r>
              <a:rPr lang="en-US" dirty="0">
                <a:solidFill>
                  <a:srgbClr val="FFFF00"/>
                </a:solidFill>
              </a:rPr>
              <a:t>#level1</a:t>
            </a:r>
            <a:endParaRPr dirty="0">
              <a:solidFill>
                <a:srgbClr val="FFFF00"/>
              </a:solidFill>
            </a:endParaRPr>
          </a:p>
          <a:p>
            <a:pPr marL="228600" lvl="0" indent="-50800" algn="l" rtl="0">
              <a:lnSpc>
                <a:spcPct val="80000"/>
              </a:lnSpc>
              <a:spcBef>
                <a:spcPts val="1000"/>
              </a:spcBef>
              <a:spcAft>
                <a:spcPts val="0"/>
              </a:spcAft>
              <a:buClr>
                <a:schemeClr val="lt1"/>
              </a:buClr>
              <a:buSzPts val="2800"/>
              <a:buNone/>
            </a:pPr>
            <a:endParaRPr dirty="0"/>
          </a:p>
          <a:p>
            <a:pPr marL="228600" lvl="0" indent="-50800" algn="l" rtl="0">
              <a:lnSpc>
                <a:spcPct val="80000"/>
              </a:lnSpc>
              <a:spcBef>
                <a:spcPts val="1000"/>
              </a:spcBef>
              <a:spcAft>
                <a:spcPts val="0"/>
              </a:spcAft>
              <a:buClr>
                <a:schemeClr val="lt1"/>
              </a:buClr>
              <a:buSzPts val="2800"/>
              <a:buNone/>
            </a:pPr>
            <a:endParaRP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API – Application Programming Interfaces</a:t>
            </a:r>
            <a:endParaRPr/>
          </a:p>
        </p:txBody>
      </p:sp>
      <p:sp>
        <p:nvSpPr>
          <p:cNvPr id="151" name="Google Shape;151;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800"/>
              <a:buChar char="•"/>
            </a:pPr>
            <a:r>
              <a:rPr lang="en-US" b="1">
                <a:latin typeface="Roboto Slab"/>
                <a:ea typeface="Roboto Slab"/>
                <a:cs typeface="Roboto Slab"/>
                <a:sym typeface="Roboto Slab"/>
              </a:rPr>
              <a:t>Contract</a:t>
            </a:r>
            <a:r>
              <a:rPr lang="en-US">
                <a:latin typeface="Roboto Slab"/>
                <a:ea typeface="Roboto Slab"/>
                <a:cs typeface="Roboto Slab"/>
                <a:sym typeface="Roboto Slab"/>
              </a:rPr>
              <a:t> provided from one piece of software to another</a:t>
            </a:r>
            <a:endParaRPr/>
          </a:p>
          <a:p>
            <a:pPr marL="685800" lvl="1" indent="-228600" algn="l" rtl="0">
              <a:lnSpc>
                <a:spcPct val="90000"/>
              </a:lnSpc>
              <a:spcBef>
                <a:spcPts val="500"/>
              </a:spcBef>
              <a:spcAft>
                <a:spcPts val="0"/>
              </a:spcAft>
              <a:buClr>
                <a:schemeClr val="lt1"/>
              </a:buClr>
              <a:buSzPts val="2400"/>
              <a:buChar char="•"/>
            </a:pPr>
            <a:r>
              <a:rPr lang="en-US">
                <a:latin typeface="Roboto Slab"/>
                <a:ea typeface="Roboto Slab"/>
                <a:cs typeface="Roboto Slab"/>
                <a:sym typeface="Roboto Slab"/>
              </a:rPr>
              <a:t>Structured request and response</a:t>
            </a:r>
            <a:endParaRPr/>
          </a:p>
          <a:p>
            <a:pPr marL="228600" lvl="0" indent="-228600" algn="l" rtl="0">
              <a:lnSpc>
                <a:spcPct val="90000"/>
              </a:lnSpc>
              <a:spcBef>
                <a:spcPts val="1000"/>
              </a:spcBef>
              <a:spcAft>
                <a:spcPts val="0"/>
              </a:spcAft>
              <a:buClr>
                <a:schemeClr val="lt1"/>
              </a:buClr>
              <a:buSzPts val="2800"/>
              <a:buChar char="•"/>
            </a:pPr>
            <a:r>
              <a:rPr lang="en-US">
                <a:latin typeface="Roboto Slab"/>
                <a:ea typeface="Roboto Slab"/>
                <a:cs typeface="Roboto Slab"/>
                <a:sym typeface="Roboto Slab"/>
              </a:rPr>
              <a:t>Relies on stateless, client-server protocol, almost always HTTP</a:t>
            </a:r>
            <a:endParaRPr/>
          </a:p>
          <a:p>
            <a:pPr marL="228600" lvl="0" indent="-228600" algn="l" rtl="0">
              <a:lnSpc>
                <a:spcPct val="90000"/>
              </a:lnSpc>
              <a:spcBef>
                <a:spcPts val="1000"/>
              </a:spcBef>
              <a:spcAft>
                <a:spcPts val="0"/>
              </a:spcAft>
              <a:buClr>
                <a:schemeClr val="lt1"/>
              </a:buClr>
              <a:buSzPts val="2800"/>
              <a:buChar char="•"/>
            </a:pPr>
            <a:r>
              <a:rPr lang="en-US">
                <a:latin typeface="Roboto Slab"/>
                <a:ea typeface="Roboto Slab"/>
                <a:cs typeface="Roboto Slab"/>
                <a:sym typeface="Roboto Slab"/>
              </a:rPr>
              <a:t>Treats server objects as </a:t>
            </a:r>
            <a:r>
              <a:rPr lang="en-US" b="1">
                <a:latin typeface="Roboto Slab"/>
                <a:ea typeface="Roboto Slab"/>
                <a:cs typeface="Roboto Slab"/>
                <a:sym typeface="Roboto Slab"/>
              </a:rPr>
              <a:t>resources</a:t>
            </a:r>
            <a:r>
              <a:rPr lang="en-US">
                <a:latin typeface="Roboto Slab"/>
                <a:ea typeface="Roboto Slab"/>
                <a:cs typeface="Roboto Slab"/>
                <a:sym typeface="Roboto Slab"/>
              </a:rPr>
              <a:t> that can be created, updated or destroyed</a:t>
            </a:r>
            <a:endParaRPr/>
          </a:p>
          <a:p>
            <a:pPr marL="228600" lvl="0" indent="-228600" algn="l" rtl="0">
              <a:lnSpc>
                <a:spcPct val="90000"/>
              </a:lnSpc>
              <a:spcBef>
                <a:spcPts val="1000"/>
              </a:spcBef>
              <a:spcAft>
                <a:spcPts val="0"/>
              </a:spcAft>
              <a:buClr>
                <a:schemeClr val="lt1"/>
              </a:buClr>
              <a:buSzPts val="2800"/>
              <a:buChar char="•"/>
            </a:pPr>
            <a:r>
              <a:rPr lang="en-US">
                <a:latin typeface="Roboto Slab"/>
                <a:ea typeface="Roboto Slab"/>
                <a:cs typeface="Roboto Slab"/>
                <a:sym typeface="Roboto Slab"/>
              </a:rPr>
              <a:t>Can be used by virtually any programming language</a:t>
            </a:r>
            <a:endParaRPr/>
          </a:p>
          <a:p>
            <a:pPr marL="685800" lvl="1" indent="-228600" algn="l" rtl="0">
              <a:lnSpc>
                <a:spcPct val="90000"/>
              </a:lnSpc>
              <a:spcBef>
                <a:spcPts val="500"/>
              </a:spcBef>
              <a:spcAft>
                <a:spcPts val="0"/>
              </a:spcAft>
              <a:buClr>
                <a:srgbClr val="FFFF00"/>
              </a:buClr>
              <a:buSzPts val="2400"/>
              <a:buChar char="•"/>
            </a:pPr>
            <a:r>
              <a:rPr lang="en-US">
                <a:solidFill>
                  <a:srgbClr val="FFFF00"/>
                </a:solidFill>
              </a:rPr>
              <a:t>Node (JS</a:t>
            </a:r>
            <a:r>
              <a:rPr lang="en-US"/>
              <a:t>), </a:t>
            </a:r>
            <a:r>
              <a:rPr lang="en-US">
                <a:solidFill>
                  <a:srgbClr val="FFFF00"/>
                </a:solidFill>
              </a:rPr>
              <a:t>Spring</a:t>
            </a:r>
            <a:r>
              <a:rPr lang="en-US"/>
              <a:t> or </a:t>
            </a:r>
            <a:r>
              <a:rPr lang="en-US">
                <a:solidFill>
                  <a:srgbClr val="FFFF00"/>
                </a:solidFill>
              </a:rPr>
              <a:t>Spring-boot </a:t>
            </a:r>
            <a:r>
              <a:rPr lang="en-US"/>
              <a:t>(Java or Kotlin), </a:t>
            </a:r>
            <a:r>
              <a:rPr lang="en-US">
                <a:solidFill>
                  <a:srgbClr val="FFFF00"/>
                </a:solidFill>
              </a:rPr>
              <a:t>.NET Framework</a:t>
            </a:r>
            <a:r>
              <a:rPr lang="en-US"/>
              <a:t> (C#), </a:t>
            </a:r>
            <a:r>
              <a:rPr lang="en-US">
                <a:solidFill>
                  <a:srgbClr val="FFFF00"/>
                </a:solidFill>
              </a:rPr>
              <a:t>Laravel</a:t>
            </a:r>
            <a:r>
              <a:rPr lang="en-US"/>
              <a:t> (PHP)</a:t>
            </a:r>
            <a:endParaRPr/>
          </a:p>
          <a:p>
            <a:pPr marL="228600" lvl="0" indent="-50800" algn="l" rtl="0">
              <a:lnSpc>
                <a:spcPct val="90000"/>
              </a:lnSpc>
              <a:spcBef>
                <a:spcPts val="1000"/>
              </a:spcBef>
              <a:spcAft>
                <a:spcPts val="0"/>
              </a:spcAft>
              <a:buClr>
                <a:schemeClr val="lt1"/>
              </a:buClr>
              <a:buSzPts val="2800"/>
              <a:buNone/>
            </a:pP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RESTful APIs</a:t>
            </a:r>
            <a:endParaRPr/>
          </a:p>
        </p:txBody>
      </p:sp>
      <p:sp>
        <p:nvSpPr>
          <p:cNvPr id="157" name="Google Shape;15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chemeClr val="lt1"/>
              </a:buClr>
              <a:buSzPts val="2800"/>
              <a:buChar char="•"/>
            </a:pPr>
            <a:r>
              <a:rPr lang="en-US">
                <a:latin typeface="Roboto Slab"/>
                <a:ea typeface="Roboto Slab"/>
                <a:cs typeface="Roboto Slab"/>
                <a:sym typeface="Roboto Slab"/>
              </a:rPr>
              <a:t>Representational State Transfer</a:t>
            </a:r>
            <a:endParaRPr/>
          </a:p>
          <a:p>
            <a:pPr marL="685800" lvl="1" indent="-228600" algn="l" rtl="0">
              <a:lnSpc>
                <a:spcPct val="80000"/>
              </a:lnSpc>
              <a:spcBef>
                <a:spcPts val="500"/>
              </a:spcBef>
              <a:spcAft>
                <a:spcPts val="0"/>
              </a:spcAft>
              <a:buClr>
                <a:schemeClr val="lt1"/>
              </a:buClr>
              <a:buSzPts val="2400"/>
              <a:buChar char="•"/>
            </a:pPr>
            <a:r>
              <a:rPr lang="en-US">
                <a:latin typeface="Roboto Slab"/>
                <a:ea typeface="Roboto Slab"/>
                <a:cs typeface="Roboto Slab"/>
                <a:sym typeface="Roboto Slab"/>
              </a:rPr>
              <a:t>Architecture style for designing networked applications</a:t>
            </a:r>
            <a:endParaRPr/>
          </a:p>
          <a:p>
            <a:pPr marL="685800" lvl="1" indent="-228600" algn="l" rtl="0">
              <a:lnSpc>
                <a:spcPct val="80000"/>
              </a:lnSpc>
              <a:spcBef>
                <a:spcPts val="500"/>
              </a:spcBef>
              <a:spcAft>
                <a:spcPts val="0"/>
              </a:spcAft>
              <a:buClr>
                <a:schemeClr val="lt1"/>
              </a:buClr>
              <a:buSzPts val="2400"/>
              <a:buChar char="•"/>
            </a:pPr>
            <a:r>
              <a:rPr lang="en-US">
                <a:latin typeface="Roboto Slab"/>
                <a:ea typeface="Roboto Slab"/>
                <a:cs typeface="Roboto Slab"/>
                <a:sym typeface="Roboto Slab"/>
              </a:rPr>
              <a:t>Describes design constraints that define the HTTP protocol</a:t>
            </a:r>
            <a:endParaRPr/>
          </a:p>
          <a:p>
            <a:pPr marL="228600" lvl="0" indent="-228600" algn="l" rtl="0">
              <a:lnSpc>
                <a:spcPct val="80000"/>
              </a:lnSpc>
              <a:spcBef>
                <a:spcPts val="1000"/>
              </a:spcBef>
              <a:spcAft>
                <a:spcPts val="0"/>
              </a:spcAft>
              <a:buClr>
                <a:schemeClr val="lt1"/>
              </a:buClr>
              <a:buSzPts val="2800"/>
              <a:buChar char="•"/>
            </a:pPr>
            <a:r>
              <a:rPr lang="en-US"/>
              <a:t>Design Constraints. Discuss?</a:t>
            </a:r>
            <a:endParaRPr/>
          </a:p>
          <a:p>
            <a:pPr marL="685800" lvl="1" indent="-228600" algn="l" rtl="0">
              <a:lnSpc>
                <a:spcPct val="80000"/>
              </a:lnSpc>
              <a:spcBef>
                <a:spcPts val="500"/>
              </a:spcBef>
              <a:spcAft>
                <a:spcPts val="0"/>
              </a:spcAft>
              <a:buClr>
                <a:schemeClr val="lt1"/>
              </a:buClr>
              <a:buSzPts val="2400"/>
              <a:buChar char="•"/>
            </a:pPr>
            <a:r>
              <a:rPr lang="en-US"/>
              <a:t>Addressability – unique &amp; stable resource identifiers</a:t>
            </a:r>
            <a:endParaRPr/>
          </a:p>
          <a:p>
            <a:pPr marL="685800" lvl="1" indent="-228600" algn="l" rtl="0">
              <a:lnSpc>
                <a:spcPct val="80000"/>
              </a:lnSpc>
              <a:spcBef>
                <a:spcPts val="500"/>
              </a:spcBef>
              <a:spcAft>
                <a:spcPts val="0"/>
              </a:spcAft>
              <a:buClr>
                <a:schemeClr val="lt1"/>
              </a:buClr>
              <a:buSzPts val="2400"/>
              <a:buChar char="•"/>
            </a:pPr>
            <a:r>
              <a:rPr lang="en-US"/>
              <a:t>Uniform Interface – resource interaction is through a uniform interaction provided by GET, POST, PATCH, DELETE, OPTIONS, HEAD</a:t>
            </a:r>
            <a:endParaRPr/>
          </a:p>
          <a:p>
            <a:pPr marL="685800" lvl="1" indent="-228600" algn="l" rtl="0">
              <a:lnSpc>
                <a:spcPct val="80000"/>
              </a:lnSpc>
              <a:spcBef>
                <a:spcPts val="500"/>
              </a:spcBef>
              <a:spcAft>
                <a:spcPts val="0"/>
              </a:spcAft>
              <a:buClr>
                <a:schemeClr val="lt1"/>
              </a:buClr>
              <a:buSzPts val="2400"/>
              <a:buChar char="•"/>
            </a:pPr>
            <a:r>
              <a:rPr lang="en-US"/>
              <a:t>Stateless Interactions – client/server permanent sessions are not established to span multiple interactions</a:t>
            </a:r>
            <a:endParaRPr/>
          </a:p>
          <a:p>
            <a:pPr marL="685800" lvl="1" indent="-228600" algn="l" rtl="0">
              <a:lnSpc>
                <a:spcPct val="80000"/>
              </a:lnSpc>
              <a:spcBef>
                <a:spcPts val="500"/>
              </a:spcBef>
              <a:spcAft>
                <a:spcPts val="0"/>
              </a:spcAft>
              <a:buClr>
                <a:schemeClr val="lt1"/>
              </a:buClr>
              <a:buSzPts val="2400"/>
              <a:buChar char="•"/>
            </a:pPr>
            <a:r>
              <a:rPr lang="en-US"/>
              <a:t>Self-Describing Messages – </a:t>
            </a:r>
            <a:r>
              <a:rPr lang="en-US" b="1"/>
              <a:t>responses</a:t>
            </a:r>
            <a:r>
              <a:rPr lang="en-US"/>
              <a:t> and </a:t>
            </a:r>
            <a:r>
              <a:rPr lang="en-US" b="1"/>
              <a:t>requests</a:t>
            </a:r>
            <a:r>
              <a:rPr lang="en-US"/>
              <a:t> contain both </a:t>
            </a:r>
            <a:r>
              <a:rPr lang="en-US" b="1"/>
              <a:t>data</a:t>
            </a:r>
            <a:r>
              <a:rPr lang="en-US"/>
              <a:t> and </a:t>
            </a:r>
            <a:r>
              <a:rPr lang="en-US" b="1"/>
              <a:t>meta-data</a:t>
            </a:r>
            <a:r>
              <a:rPr lang="en-US"/>
              <a:t>(description/information about data)</a:t>
            </a:r>
            <a:endParaRPr/>
          </a:p>
          <a:p>
            <a:pPr marL="685800" lvl="1" indent="-228600" algn="l" rtl="0">
              <a:lnSpc>
                <a:spcPct val="80000"/>
              </a:lnSpc>
              <a:spcBef>
                <a:spcPts val="500"/>
              </a:spcBef>
              <a:spcAft>
                <a:spcPts val="0"/>
              </a:spcAft>
              <a:buClr>
                <a:schemeClr val="lt1"/>
              </a:buClr>
              <a:buSzPts val="2400"/>
              <a:buChar char="•"/>
            </a:pPr>
            <a:r>
              <a:rPr lang="en-US"/>
              <a:t>Hypermedia – relationship between </a:t>
            </a:r>
            <a:r>
              <a:rPr lang="en-US" b="1"/>
              <a:t>resources</a:t>
            </a:r>
            <a:endParaRPr b="1"/>
          </a:p>
          <a:p>
            <a:pPr marL="228600" lvl="0" indent="-50800" algn="l" rtl="0">
              <a:lnSpc>
                <a:spcPct val="80000"/>
              </a:lnSpc>
              <a:spcBef>
                <a:spcPts val="1000"/>
              </a:spcBef>
              <a:spcAft>
                <a:spcPts val="0"/>
              </a:spcAft>
              <a:buClr>
                <a:schemeClr val="lt1"/>
              </a:buClr>
              <a:buSzPts val="2800"/>
              <a:buNone/>
            </a:pPr>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RESTful APIs</a:t>
            </a:r>
            <a:endParaRPr/>
          </a:p>
        </p:txBody>
      </p:sp>
      <p:sp>
        <p:nvSpPr>
          <p:cNvPr id="163" name="Google Shape;163;p10"/>
          <p:cNvSpPr txBox="1">
            <a:spLocks noGrp="1"/>
          </p:cNvSpPr>
          <p:nvPr>
            <p:ph type="body" idx="1"/>
          </p:nvPr>
        </p:nvSpPr>
        <p:spPr>
          <a:xfrm>
            <a:off x="838200" y="1825625"/>
            <a:ext cx="4554196" cy="422479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800"/>
              <a:buChar char="•"/>
            </a:pPr>
            <a:r>
              <a:rPr lang="en-US"/>
              <a:t>Maturity Model. Discuss?</a:t>
            </a:r>
            <a:endParaRPr/>
          </a:p>
          <a:p>
            <a:pPr marL="685800" lvl="1" indent="-228600" algn="l" rtl="0">
              <a:lnSpc>
                <a:spcPct val="90000"/>
              </a:lnSpc>
              <a:spcBef>
                <a:spcPts val="500"/>
              </a:spcBef>
              <a:spcAft>
                <a:spcPts val="0"/>
              </a:spcAft>
              <a:buClr>
                <a:schemeClr val="lt1"/>
              </a:buClr>
              <a:buSzPts val="2400"/>
              <a:buChar char="•"/>
            </a:pPr>
            <a:r>
              <a:rPr lang="en-US"/>
              <a:t>Is every API RESTful?</a:t>
            </a:r>
            <a:endParaRPr/>
          </a:p>
          <a:p>
            <a:pPr marL="685800" lvl="1" indent="-228600" algn="l" rtl="0">
              <a:lnSpc>
                <a:spcPct val="90000"/>
              </a:lnSpc>
              <a:spcBef>
                <a:spcPts val="500"/>
              </a:spcBef>
              <a:spcAft>
                <a:spcPts val="0"/>
              </a:spcAft>
              <a:buClr>
                <a:schemeClr val="lt1"/>
              </a:buClr>
              <a:buSzPts val="2400"/>
              <a:buChar char="•"/>
            </a:pPr>
            <a:r>
              <a:rPr lang="en-US"/>
              <a:t>Steps towards REST</a:t>
            </a:r>
            <a:endParaRPr/>
          </a:p>
          <a:p>
            <a:pPr marL="228600" lvl="0" indent="-50800" algn="l" rtl="0">
              <a:lnSpc>
                <a:spcPct val="90000"/>
              </a:lnSpc>
              <a:spcBef>
                <a:spcPts val="1000"/>
              </a:spcBef>
              <a:spcAft>
                <a:spcPts val="0"/>
              </a:spcAft>
              <a:buClr>
                <a:schemeClr val="lt1"/>
              </a:buClr>
              <a:buSzPts val="2800"/>
              <a:buNone/>
            </a:pPr>
            <a:endParaRPr/>
          </a:p>
        </p:txBody>
      </p:sp>
      <p:pic>
        <p:nvPicPr>
          <p:cNvPr id="164" name="Google Shape;164;p10" descr="https://martinfowler.com/articles/images/richardsonMaturityModel/overview.png"/>
          <p:cNvPicPr preferRelativeResize="0"/>
          <p:nvPr/>
        </p:nvPicPr>
        <p:blipFill rotWithShape="1">
          <a:blip r:embed="rId3">
            <a:alphaModFix/>
          </a:blip>
          <a:srcRect/>
          <a:stretch/>
        </p:blipFill>
        <p:spPr>
          <a:xfrm>
            <a:off x="5640531" y="1690688"/>
            <a:ext cx="6551469" cy="5167312"/>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1"/>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REST resources</a:t>
            </a:r>
            <a:endParaRPr/>
          </a:p>
        </p:txBody>
      </p:sp>
      <p:sp>
        <p:nvSpPr>
          <p:cNvPr id="170" name="Google Shape;170;p11"/>
          <p:cNvSpPr txBox="1">
            <a:spLocks noGrp="1"/>
          </p:cNvSpPr>
          <p:nvPr>
            <p:ph type="body" idx="1"/>
          </p:nvPr>
        </p:nvSpPr>
        <p:spPr>
          <a:xfrm>
            <a:off x="517200" y="1883299"/>
            <a:ext cx="11157600" cy="4105200"/>
          </a:xfrm>
          <a:prstGeom prst="rect">
            <a:avLst/>
          </a:prstGeom>
          <a:noFill/>
          <a:ln>
            <a:noFill/>
          </a:ln>
        </p:spPr>
        <p:txBody>
          <a:bodyPr spcFirstLastPara="1" wrap="square" lIns="121900" tIns="121900" rIns="121900" bIns="121900" anchor="t" anchorCtr="0">
            <a:noAutofit/>
          </a:bodyPr>
          <a:lstStyle/>
          <a:p>
            <a:pPr marL="609585" lvl="0" indent="-457188" algn="l" rtl="0">
              <a:lnSpc>
                <a:spcPct val="115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A resource is an object with a type, associated data, relation to other resources and a set of methods that operate on it.</a:t>
            </a:r>
            <a:endParaRPr>
              <a:latin typeface="Roboto Slab"/>
              <a:ea typeface="Roboto Slab"/>
              <a:cs typeface="Roboto Slab"/>
              <a:sym typeface="Roboto Slab"/>
            </a:endParaRPr>
          </a:p>
          <a:p>
            <a:pPr marL="609585" lvl="0" indent="-457188" algn="l" rtl="0">
              <a:lnSpc>
                <a:spcPct val="115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Similar to object instances in object-oriented programming.</a:t>
            </a:r>
            <a:endParaRPr>
              <a:latin typeface="Roboto Slab"/>
              <a:ea typeface="Roboto Slab"/>
              <a:cs typeface="Roboto Slab"/>
              <a:sym typeface="Roboto Slab"/>
            </a:endParaRPr>
          </a:p>
          <a:p>
            <a:pPr marL="609585" lvl="0" indent="-457188" algn="l" rtl="0">
              <a:lnSpc>
                <a:spcPct val="115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Each resource has its own address or URI—every interesting piece of information the server can provide is exposed as a resource.</a:t>
            </a:r>
            <a:endParaRPr>
              <a:latin typeface="Roboto Slab"/>
              <a:ea typeface="Roboto Slab"/>
              <a:cs typeface="Roboto Slab"/>
              <a:sym typeface="Roboto Slab"/>
            </a:endParaRPr>
          </a:p>
          <a:p>
            <a:pPr marL="609585" lvl="0" indent="-457188" algn="l" rtl="0">
              <a:lnSpc>
                <a:spcPct val="115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In deciding what resources are within your system, </a:t>
            </a:r>
            <a:r>
              <a:rPr lang="en-US">
                <a:solidFill>
                  <a:srgbClr val="FFFF00"/>
                </a:solidFill>
                <a:latin typeface="Roboto Slab"/>
                <a:ea typeface="Roboto Slab"/>
                <a:cs typeface="Roboto Slab"/>
                <a:sym typeface="Roboto Slab"/>
              </a:rPr>
              <a:t>name them as nouns</a:t>
            </a:r>
            <a:r>
              <a:rPr lang="en-US">
                <a:latin typeface="Roboto Slab"/>
                <a:ea typeface="Roboto Slab"/>
                <a:cs typeface="Roboto Slab"/>
                <a:sym typeface="Roboto Slab"/>
              </a:rPr>
              <a:t>.</a:t>
            </a:r>
            <a:endParaRPr>
              <a:latin typeface="Roboto Slab"/>
              <a:ea typeface="Roboto Slab"/>
              <a:cs typeface="Roboto Slab"/>
              <a:sym typeface="Roboto Slab"/>
            </a:endParaRPr>
          </a:p>
          <a:p>
            <a:pPr marL="609585" lvl="0" indent="-457188" algn="l" rtl="0">
              <a:lnSpc>
                <a:spcPct val="115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RESTful URI should refer to a resource that is a thing instead of referring to an action.</a:t>
            </a:r>
            <a:endParaRPr>
              <a:latin typeface="Roboto Slab"/>
              <a:ea typeface="Roboto Slab"/>
              <a:cs typeface="Roboto Slab"/>
              <a:sym typeface="Roboto Slab"/>
            </a:endParaRPr>
          </a:p>
          <a:p>
            <a:pPr marL="609585" lvl="0" indent="-457188" algn="l" rtl="0">
              <a:lnSpc>
                <a:spcPct val="115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Nouns have properties as verbs do not</a:t>
            </a: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Endpoint</a:t>
            </a:r>
            <a:endParaRPr/>
          </a:p>
        </p:txBody>
      </p:sp>
      <p:sp>
        <p:nvSpPr>
          <p:cNvPr id="176" name="Google Shape;176;p12"/>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Addresses/identifies a unique resource</a:t>
            </a:r>
            <a:endParaRPr/>
          </a:p>
          <a:p>
            <a:pPr marL="0" lvl="0" indent="0" algn="l" rtl="0">
              <a:lnSpc>
                <a:spcPct val="90000"/>
              </a:lnSpc>
              <a:spcBef>
                <a:spcPts val="0"/>
              </a:spcBef>
              <a:spcAft>
                <a:spcPts val="0"/>
              </a:spcAft>
              <a:buClr>
                <a:schemeClr val="lt1"/>
              </a:buClr>
              <a:buSzPts val="1800"/>
              <a:buNone/>
            </a:pPr>
            <a:endParaRPr>
              <a:latin typeface="Roboto Slab"/>
              <a:ea typeface="Roboto Slab"/>
              <a:cs typeface="Roboto Slab"/>
              <a:sym typeface="Roboto Slab"/>
            </a:endParaRPr>
          </a:p>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The URI/URL where api/service can be accessed by a client application</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endParaRPr>
              <a:latin typeface="Roboto Slab"/>
              <a:ea typeface="Roboto Slab"/>
              <a:cs typeface="Roboto Slab"/>
              <a:sym typeface="Roboto Slab"/>
            </a:endParaRPr>
          </a:p>
          <a:p>
            <a:pPr marL="609585" lvl="0" indent="0" algn="l" rtl="0">
              <a:lnSpc>
                <a:spcPct val="90000"/>
              </a:lnSpc>
              <a:spcBef>
                <a:spcPts val="2133"/>
              </a:spcBef>
              <a:spcAft>
                <a:spcPts val="2133"/>
              </a:spcAft>
              <a:buClr>
                <a:schemeClr val="lt1"/>
              </a:buClr>
              <a:buSzPts val="1800"/>
              <a:buNone/>
            </a:pP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3"/>
          <p:cNvSpPr txBox="1">
            <a:spLocks noGrp="1"/>
          </p:cNvSpPr>
          <p:nvPr>
            <p:ph type="title"/>
          </p:nvPr>
        </p:nvSpPr>
        <p:spPr>
          <a:xfrm>
            <a:off x="517200" y="610700"/>
            <a:ext cx="11157600" cy="9148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Hypermedia</a:t>
            </a:r>
            <a:endParaRPr/>
          </a:p>
        </p:txBody>
      </p:sp>
      <p:sp>
        <p:nvSpPr>
          <p:cNvPr id="182" name="Google Shape;182;p13"/>
          <p:cNvSpPr txBox="1">
            <a:spLocks noGrp="1"/>
          </p:cNvSpPr>
          <p:nvPr>
            <p:ph type="body" idx="1"/>
          </p:nvPr>
        </p:nvSpPr>
        <p:spPr>
          <a:xfrm>
            <a:off x="517200" y="1986431"/>
            <a:ext cx="4644460" cy="4610921"/>
          </a:xfrm>
          <a:prstGeom prst="rect">
            <a:avLst/>
          </a:prstGeom>
          <a:noFill/>
          <a:ln>
            <a:noFill/>
          </a:ln>
        </p:spPr>
        <p:txBody>
          <a:bodyPr spcFirstLastPara="1" wrap="square" lIns="91425" tIns="91425" rIns="91425" bIns="91425" anchor="t" anchorCtr="0">
            <a:noAutofit/>
          </a:bodyPr>
          <a:lstStyle/>
          <a:p>
            <a:pPr marL="609585" lvl="0" indent="-457188" algn="l" rtl="0">
              <a:lnSpc>
                <a:spcPct val="90000"/>
              </a:lnSpc>
              <a:spcBef>
                <a:spcPts val="0"/>
              </a:spcBef>
              <a:spcAft>
                <a:spcPts val="0"/>
              </a:spcAft>
              <a:buClr>
                <a:schemeClr val="lt1"/>
              </a:buClr>
              <a:buSzPts val="1800"/>
              <a:buChar char="●"/>
            </a:pPr>
            <a:r>
              <a:rPr lang="en-US"/>
              <a:t>HATEOAS</a:t>
            </a:r>
            <a:endParaRPr/>
          </a:p>
          <a:p>
            <a:pPr marL="1219170" lvl="1" indent="-423323" algn="l" rtl="0">
              <a:lnSpc>
                <a:spcPct val="90000"/>
              </a:lnSpc>
              <a:spcBef>
                <a:spcPts val="2133"/>
              </a:spcBef>
              <a:spcAft>
                <a:spcPts val="0"/>
              </a:spcAft>
              <a:buClr>
                <a:schemeClr val="lt1"/>
              </a:buClr>
              <a:buSzPts val="1400"/>
              <a:buChar char="○"/>
            </a:pPr>
            <a:r>
              <a:rPr lang="en-US"/>
              <a:t>HyperText As The Engine Of Application State</a:t>
            </a:r>
            <a:endParaRPr/>
          </a:p>
          <a:p>
            <a:pPr marL="609585" lvl="0" indent="-342888" algn="l" rtl="0">
              <a:lnSpc>
                <a:spcPct val="90000"/>
              </a:lnSpc>
              <a:spcBef>
                <a:spcPts val="0"/>
              </a:spcBef>
              <a:spcAft>
                <a:spcPts val="0"/>
              </a:spcAft>
              <a:buClr>
                <a:schemeClr val="lt1"/>
              </a:buClr>
              <a:buSzPts val="1800"/>
              <a:buNone/>
            </a:pPr>
            <a:endParaRPr/>
          </a:p>
        </p:txBody>
      </p:sp>
      <p:pic>
        <p:nvPicPr>
          <p:cNvPr id="183" name="Google Shape;183;p13"/>
          <p:cNvPicPr preferRelativeResize="0"/>
          <p:nvPr/>
        </p:nvPicPr>
        <p:blipFill rotWithShape="1">
          <a:blip r:embed="rId3">
            <a:alphaModFix/>
          </a:blip>
          <a:srcRect/>
          <a:stretch/>
        </p:blipFill>
        <p:spPr>
          <a:xfrm>
            <a:off x="5386750" y="1775020"/>
            <a:ext cx="6805250" cy="508298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4"/>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HTTP Verbs</a:t>
            </a:r>
            <a:endParaRPr/>
          </a:p>
        </p:txBody>
      </p:sp>
      <p:sp>
        <p:nvSpPr>
          <p:cNvPr id="189" name="Google Shape;189;p14"/>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The HTTP verbs comprise a major portion of our “uniform interface” constraint and provide us the action counterpart to the noun-based resource</a:t>
            </a:r>
            <a:endParaRPr>
              <a:latin typeface="Roboto Slab"/>
              <a:ea typeface="Roboto Slab"/>
              <a:cs typeface="Roboto Slab"/>
              <a:sym typeface="Roboto Slab"/>
            </a:endParaRPr>
          </a:p>
          <a:p>
            <a:pPr marL="609585" lvl="0" indent="0" algn="l" rtl="0">
              <a:lnSpc>
                <a:spcPct val="90000"/>
              </a:lnSpc>
              <a:spcBef>
                <a:spcPts val="2133"/>
              </a:spcBef>
              <a:spcAft>
                <a:spcPts val="2133"/>
              </a:spcAft>
              <a:buClr>
                <a:schemeClr val="lt1"/>
              </a:buClr>
              <a:buSzPts val="1800"/>
              <a:buNone/>
            </a:pP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5"/>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HTTP Verbs (CRUD)</a:t>
            </a:r>
            <a:endParaRPr/>
          </a:p>
        </p:txBody>
      </p:sp>
      <p:sp>
        <p:nvSpPr>
          <p:cNvPr id="195" name="Google Shape;195;p15"/>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609585" lvl="0" indent="-457188" algn="l" rtl="0">
              <a:lnSpc>
                <a:spcPct val="90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GET: Retrieve data from specified resource</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POST: Submit data to be processed to a specified resource</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PUT: Update a specified resource</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DELETE: delete a specified resource</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endParaRPr>
              <a:latin typeface="Roboto Slab"/>
              <a:ea typeface="Roboto Slab"/>
              <a:cs typeface="Roboto Slab"/>
              <a:sym typeface="Roboto Slab"/>
            </a:endParaRPr>
          </a:p>
          <a:p>
            <a:pPr marL="609585" lvl="0" indent="-457188" algn="l" rtl="0">
              <a:lnSpc>
                <a:spcPct val="90000"/>
              </a:lnSpc>
              <a:spcBef>
                <a:spcPts val="2133"/>
              </a:spcBef>
              <a:spcAft>
                <a:spcPts val="0"/>
              </a:spcAft>
              <a:buClr>
                <a:schemeClr val="lt1"/>
              </a:buClr>
              <a:buSzPts val="1800"/>
              <a:buFont typeface="Roboto Slab"/>
              <a:buChar char="●"/>
            </a:pPr>
            <a:r>
              <a:rPr lang="en-US">
                <a:latin typeface="Roboto Slab"/>
                <a:ea typeface="Roboto Slab"/>
                <a:cs typeface="Roboto Slab"/>
                <a:sym typeface="Roboto Slab"/>
              </a:rPr>
              <a:t>HEAD:  same as GET but does not return body</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OPTIONS: Returns the supported HTTP methods</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Char char="●"/>
            </a:pPr>
            <a:r>
              <a:rPr lang="en-US">
                <a:latin typeface="Roboto Slab"/>
                <a:ea typeface="Roboto Slab"/>
                <a:cs typeface="Roboto Slab"/>
                <a:sym typeface="Roboto Slab"/>
              </a:rPr>
              <a:t>PATCH:  Update partial resources</a:t>
            </a: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6"/>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GET verb</a:t>
            </a:r>
            <a:endParaRPr/>
          </a:p>
        </p:txBody>
      </p:sp>
      <p:sp>
        <p:nvSpPr>
          <p:cNvPr id="201" name="Google Shape;201;p16"/>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The HTTP GET method is used to retrieve (or read) a representation of a resource. </a:t>
            </a:r>
            <a:endParaRPr>
              <a:latin typeface="Roboto Slab"/>
              <a:ea typeface="Roboto Slab"/>
              <a:cs typeface="Roboto Slab"/>
              <a:sym typeface="Roboto Slab"/>
            </a:endParaRPr>
          </a:p>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Returns a representation in XML or JSON.</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r>
              <a:rPr lang="en-US">
                <a:latin typeface="Roboto Slab"/>
                <a:ea typeface="Roboto Slab"/>
                <a:cs typeface="Roboto Slab"/>
                <a:sym typeface="Roboto Slab"/>
              </a:rPr>
              <a:t>Examples:</a:t>
            </a:r>
            <a:endParaRPr>
              <a:latin typeface="Roboto Slab"/>
              <a:ea typeface="Roboto Slab"/>
              <a:cs typeface="Roboto Slab"/>
              <a:sym typeface="Roboto Slab"/>
            </a:endParaRPr>
          </a:p>
          <a:p>
            <a:pPr marL="609585" lvl="0" indent="-457188" algn="l" rtl="0">
              <a:lnSpc>
                <a:spcPct val="90000"/>
              </a:lnSpc>
              <a:spcBef>
                <a:spcPts val="2133"/>
              </a:spcBef>
              <a:spcAft>
                <a:spcPts val="0"/>
              </a:spcAft>
              <a:buClr>
                <a:schemeClr val="lt1"/>
              </a:buClr>
              <a:buSzPts val="1800"/>
              <a:buFont typeface="Roboto Slab"/>
              <a:buAutoNum type="arabicPeriod"/>
            </a:pPr>
            <a:r>
              <a:rPr lang="en-US">
                <a:latin typeface="Roboto Slab"/>
                <a:ea typeface="Roboto Slab"/>
                <a:cs typeface="Roboto Slab"/>
                <a:sym typeface="Roboto Slab"/>
              </a:rPr>
              <a:t>GET </a:t>
            </a:r>
            <a:r>
              <a:rPr lang="en-US" u="sng">
                <a:solidFill>
                  <a:schemeClr val="hlink"/>
                </a:solidFill>
                <a:latin typeface="Roboto Slab"/>
                <a:ea typeface="Roboto Slab"/>
                <a:cs typeface="Roboto Slab"/>
                <a:sym typeface="Roboto Slab"/>
                <a:hlinkClick r:id="rId3"/>
              </a:rPr>
              <a:t>http://www.example.com/customers/12345</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AutoNum type="arabicPeriod"/>
            </a:pPr>
            <a:r>
              <a:rPr lang="en-US">
                <a:latin typeface="Roboto Slab"/>
                <a:ea typeface="Roboto Slab"/>
                <a:cs typeface="Roboto Slab"/>
                <a:sym typeface="Roboto Slab"/>
              </a:rPr>
              <a:t>GET </a:t>
            </a:r>
            <a:r>
              <a:rPr lang="en-US" u="sng">
                <a:solidFill>
                  <a:schemeClr val="hlink"/>
                </a:solidFill>
                <a:latin typeface="Roboto Slab"/>
                <a:ea typeface="Roboto Slab"/>
                <a:cs typeface="Roboto Slab"/>
                <a:sym typeface="Roboto Slab"/>
                <a:hlinkClick r:id="rId4"/>
              </a:rPr>
              <a:t>http://www.example.com/customers/12345/orders</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AutoNum type="arabicPeriod"/>
            </a:pPr>
            <a:r>
              <a:rPr lang="en-US">
                <a:latin typeface="Roboto Slab"/>
                <a:ea typeface="Roboto Slab"/>
                <a:cs typeface="Roboto Slab"/>
                <a:sym typeface="Roboto Slab"/>
              </a:rPr>
              <a:t>GET </a:t>
            </a:r>
            <a:r>
              <a:rPr lang="en-US" u="sng">
                <a:solidFill>
                  <a:schemeClr val="hlink"/>
                </a:solidFill>
                <a:latin typeface="Roboto Slab"/>
                <a:ea typeface="Roboto Slab"/>
                <a:cs typeface="Roboto Slab"/>
                <a:sym typeface="Roboto Slab"/>
                <a:hlinkClick r:id="rId5"/>
              </a:rPr>
              <a:t>http://www.example.com/buckets/sample</a:t>
            </a:r>
            <a:r>
              <a:rPr lang="en-US">
                <a:latin typeface="Roboto Slab"/>
                <a:ea typeface="Roboto Slab"/>
                <a:cs typeface="Roboto Slab"/>
                <a:sym typeface="Roboto Slab"/>
              </a:rPr>
              <a:t> </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r>
              <a:rPr lang="en-US">
                <a:latin typeface="Roboto Slab"/>
                <a:ea typeface="Roboto Slab"/>
                <a:cs typeface="Roboto Slab"/>
                <a:sym typeface="Roboto Slab"/>
              </a:rPr>
              <a:t>According to the design of the HTTP specification, GET (along with HEAD) requests are used only to read data and not change it. Therefore, when used this way, they are considered safe.</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endParaRPr>
              <a:latin typeface="Roboto Slab"/>
              <a:ea typeface="Roboto Slab"/>
              <a:cs typeface="Roboto Slab"/>
              <a:sym typeface="Roboto Slab"/>
            </a:endParaRPr>
          </a:p>
          <a:p>
            <a:pPr marL="0" lvl="0" indent="0" algn="l" rtl="0">
              <a:lnSpc>
                <a:spcPct val="90000"/>
              </a:lnSpc>
              <a:spcBef>
                <a:spcPts val="2133"/>
              </a:spcBef>
              <a:spcAft>
                <a:spcPts val="2133"/>
              </a:spcAft>
              <a:buClr>
                <a:schemeClr val="lt1"/>
              </a:buClr>
              <a:buSzPts val="1800"/>
              <a:buNone/>
            </a:pP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7"/>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PUT verb</a:t>
            </a:r>
            <a:endParaRPr/>
          </a:p>
        </p:txBody>
      </p:sp>
      <p:sp>
        <p:nvSpPr>
          <p:cNvPr id="207" name="Google Shape;207;p17"/>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Most-often utilized for update capabilities.</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r>
              <a:rPr lang="en-US">
                <a:latin typeface="Roboto Slab"/>
                <a:ea typeface="Roboto Slab"/>
                <a:cs typeface="Roboto Slab"/>
                <a:sym typeface="Roboto Slab"/>
              </a:rPr>
              <a:t>Examples:</a:t>
            </a:r>
            <a:endParaRPr>
              <a:latin typeface="Roboto Slab"/>
              <a:ea typeface="Roboto Slab"/>
              <a:cs typeface="Roboto Slab"/>
              <a:sym typeface="Roboto Slab"/>
            </a:endParaRPr>
          </a:p>
          <a:p>
            <a:pPr marL="609585" lvl="0" indent="-457188" algn="l" rtl="0">
              <a:lnSpc>
                <a:spcPct val="90000"/>
              </a:lnSpc>
              <a:spcBef>
                <a:spcPts val="2133"/>
              </a:spcBef>
              <a:spcAft>
                <a:spcPts val="0"/>
              </a:spcAft>
              <a:buClr>
                <a:schemeClr val="lt1"/>
              </a:buClr>
              <a:buSzPts val="1800"/>
              <a:buFont typeface="Roboto Slab"/>
              <a:buAutoNum type="arabicPeriod"/>
            </a:pPr>
            <a:r>
              <a:rPr lang="en-US">
                <a:latin typeface="Roboto Slab"/>
                <a:ea typeface="Roboto Slab"/>
                <a:cs typeface="Roboto Slab"/>
                <a:sym typeface="Roboto Slab"/>
              </a:rPr>
              <a:t>PUT </a:t>
            </a:r>
            <a:r>
              <a:rPr lang="en-US" u="sng">
                <a:solidFill>
                  <a:schemeClr val="hlink"/>
                </a:solidFill>
                <a:latin typeface="Roboto Slab"/>
                <a:ea typeface="Roboto Slab"/>
                <a:cs typeface="Roboto Slab"/>
                <a:sym typeface="Roboto Slab"/>
                <a:hlinkClick r:id="rId3"/>
              </a:rPr>
              <a:t>http://www.example.com/customers/12345</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AutoNum type="arabicPeriod"/>
            </a:pPr>
            <a:r>
              <a:rPr lang="en-US">
                <a:latin typeface="Roboto Slab"/>
                <a:ea typeface="Roboto Slab"/>
                <a:cs typeface="Roboto Slab"/>
                <a:sym typeface="Roboto Slab"/>
              </a:rPr>
              <a:t>PUT </a:t>
            </a:r>
            <a:r>
              <a:rPr lang="en-US" u="sng">
                <a:solidFill>
                  <a:schemeClr val="hlink"/>
                </a:solidFill>
                <a:latin typeface="Roboto Slab"/>
                <a:ea typeface="Roboto Slab"/>
                <a:cs typeface="Roboto Slab"/>
                <a:sym typeface="Roboto Slab"/>
                <a:hlinkClick r:id="rId4"/>
              </a:rPr>
              <a:t>http://www.example.com/customers/12345/orders/98765</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AutoNum type="arabicPeriod"/>
            </a:pPr>
            <a:r>
              <a:rPr lang="en-US">
                <a:latin typeface="Roboto Slab"/>
                <a:ea typeface="Roboto Slab"/>
                <a:cs typeface="Roboto Slab"/>
                <a:sym typeface="Roboto Slab"/>
              </a:rPr>
              <a:t>PUT </a:t>
            </a:r>
            <a:r>
              <a:rPr lang="en-US" u="sng">
                <a:solidFill>
                  <a:schemeClr val="hlink"/>
                </a:solidFill>
                <a:latin typeface="Roboto Slab"/>
                <a:ea typeface="Roboto Slab"/>
                <a:cs typeface="Roboto Slab"/>
                <a:sym typeface="Roboto Slab"/>
                <a:hlinkClick r:id="rId5"/>
              </a:rPr>
              <a:t>http://www.example.com/buckets/sample</a:t>
            </a:r>
            <a:r>
              <a:rPr lang="en-US">
                <a:latin typeface="Roboto Slab"/>
                <a:ea typeface="Roboto Slab"/>
                <a:cs typeface="Roboto Slab"/>
                <a:sym typeface="Roboto Slab"/>
              </a:rPr>
              <a:t> </a:t>
            </a:r>
            <a:endParaRPr>
              <a:latin typeface="Roboto Slab"/>
              <a:ea typeface="Roboto Slab"/>
              <a:cs typeface="Roboto Slab"/>
              <a:sym typeface="Roboto Slab"/>
            </a:endParaRPr>
          </a:p>
          <a:p>
            <a:pPr marL="0" lvl="0" indent="0" algn="l" rtl="0">
              <a:lnSpc>
                <a:spcPct val="90000"/>
              </a:lnSpc>
              <a:spcBef>
                <a:spcPts val="2133"/>
              </a:spcBef>
              <a:spcAft>
                <a:spcPts val="2133"/>
              </a:spcAft>
              <a:buClr>
                <a:schemeClr val="lt1"/>
              </a:buClr>
              <a:buSzPts val="1800"/>
              <a:buNone/>
            </a:pPr>
            <a:r>
              <a:rPr lang="en-US">
                <a:latin typeface="Roboto Slab"/>
                <a:ea typeface="Roboto Slab"/>
                <a:cs typeface="Roboto Slab"/>
                <a:sym typeface="Roboto Slab"/>
              </a:rPr>
              <a:t>PUT is not a safe operation, in that it modifies (or creates) state on the server,</a:t>
            </a: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8"/>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POST verb</a:t>
            </a:r>
            <a:endParaRPr/>
          </a:p>
        </p:txBody>
      </p:sp>
      <p:sp>
        <p:nvSpPr>
          <p:cNvPr id="213" name="Google Shape;213;p18"/>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Most-often utilized for update capabilities.</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r>
              <a:rPr lang="en-US">
                <a:latin typeface="Roboto Slab"/>
                <a:ea typeface="Roboto Slab"/>
                <a:cs typeface="Roboto Slab"/>
                <a:sym typeface="Roboto Slab"/>
              </a:rPr>
              <a:t>Examples:</a:t>
            </a:r>
            <a:endParaRPr>
              <a:latin typeface="Roboto Slab"/>
              <a:ea typeface="Roboto Slab"/>
              <a:cs typeface="Roboto Slab"/>
              <a:sym typeface="Roboto Slab"/>
            </a:endParaRPr>
          </a:p>
          <a:p>
            <a:pPr marL="609585" lvl="0" indent="-457188" algn="l" rtl="0">
              <a:lnSpc>
                <a:spcPct val="90000"/>
              </a:lnSpc>
              <a:spcBef>
                <a:spcPts val="2133"/>
              </a:spcBef>
              <a:spcAft>
                <a:spcPts val="0"/>
              </a:spcAft>
              <a:buClr>
                <a:schemeClr val="lt1"/>
              </a:buClr>
              <a:buSzPts val="1800"/>
              <a:buFont typeface="Roboto Slab"/>
              <a:buAutoNum type="arabicPeriod"/>
            </a:pPr>
            <a:r>
              <a:rPr lang="en-US">
                <a:latin typeface="Roboto Slab"/>
                <a:ea typeface="Roboto Slab"/>
                <a:cs typeface="Roboto Slab"/>
                <a:sym typeface="Roboto Slab"/>
              </a:rPr>
              <a:t>POST </a:t>
            </a:r>
            <a:r>
              <a:rPr lang="en-US" u="sng">
                <a:solidFill>
                  <a:schemeClr val="hlink"/>
                </a:solidFill>
                <a:latin typeface="Roboto Slab"/>
                <a:ea typeface="Roboto Slab"/>
                <a:cs typeface="Roboto Slab"/>
                <a:sym typeface="Roboto Slab"/>
                <a:hlinkClick r:id="rId3"/>
              </a:rPr>
              <a:t>http://www.example.com/customers</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AutoNum type="arabicPeriod"/>
            </a:pPr>
            <a:r>
              <a:rPr lang="en-US">
                <a:latin typeface="Roboto Slab"/>
                <a:ea typeface="Roboto Slab"/>
                <a:cs typeface="Roboto Slab"/>
                <a:sym typeface="Roboto Slab"/>
              </a:rPr>
              <a:t>POST </a:t>
            </a:r>
            <a:r>
              <a:rPr lang="en-US" u="sng">
                <a:solidFill>
                  <a:schemeClr val="hlink"/>
                </a:solidFill>
                <a:latin typeface="Roboto Slab"/>
                <a:ea typeface="Roboto Slab"/>
                <a:cs typeface="Roboto Slab"/>
                <a:sym typeface="Roboto Slab"/>
                <a:hlinkClick r:id="rId4"/>
              </a:rPr>
              <a:t>http://www.example.com/customers/12345/orders</a:t>
            </a:r>
            <a:endParaRPr>
              <a:latin typeface="Roboto Slab"/>
              <a:ea typeface="Roboto Slab"/>
              <a:cs typeface="Roboto Slab"/>
              <a:sym typeface="Roboto Slab"/>
            </a:endParaRPr>
          </a:p>
          <a:p>
            <a:pPr marL="0" lvl="0" indent="0" algn="l" rtl="0">
              <a:lnSpc>
                <a:spcPct val="90000"/>
              </a:lnSpc>
              <a:spcBef>
                <a:spcPts val="2133"/>
              </a:spcBef>
              <a:spcAft>
                <a:spcPts val="2133"/>
              </a:spcAft>
              <a:buClr>
                <a:schemeClr val="lt1"/>
              </a:buClr>
              <a:buSzPts val="1800"/>
              <a:buNone/>
            </a:pPr>
            <a:r>
              <a:rPr lang="en-US">
                <a:latin typeface="Roboto Slab"/>
                <a:ea typeface="Roboto Slab"/>
                <a:cs typeface="Roboto Slab"/>
                <a:sym typeface="Roboto Slab"/>
              </a:rPr>
              <a:t>POST is neither safe or idempotent.</a:t>
            </a: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9"/>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DELETE verb</a:t>
            </a:r>
            <a:endParaRPr/>
          </a:p>
        </p:txBody>
      </p:sp>
      <p:sp>
        <p:nvSpPr>
          <p:cNvPr id="219" name="Google Shape;219;p19"/>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lt1"/>
              </a:buClr>
              <a:buSzPts val="1800"/>
              <a:buNone/>
            </a:pPr>
            <a:r>
              <a:rPr lang="en-US">
                <a:latin typeface="Roboto Slab"/>
                <a:ea typeface="Roboto Slab"/>
                <a:cs typeface="Roboto Slab"/>
                <a:sym typeface="Roboto Slab"/>
              </a:rPr>
              <a:t>It is used to delete a resource identified by a URI.</a:t>
            </a:r>
            <a:endParaRPr>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r>
              <a:rPr lang="en-US">
                <a:latin typeface="Roboto Slab"/>
                <a:ea typeface="Roboto Slab"/>
                <a:cs typeface="Roboto Slab"/>
                <a:sym typeface="Roboto Slab"/>
              </a:rPr>
              <a:t>Examples:</a:t>
            </a:r>
            <a:endParaRPr>
              <a:latin typeface="Roboto Slab"/>
              <a:ea typeface="Roboto Slab"/>
              <a:cs typeface="Roboto Slab"/>
              <a:sym typeface="Roboto Slab"/>
            </a:endParaRPr>
          </a:p>
          <a:p>
            <a:pPr marL="609585" lvl="0" indent="-457188" algn="l" rtl="0">
              <a:lnSpc>
                <a:spcPct val="90000"/>
              </a:lnSpc>
              <a:spcBef>
                <a:spcPts val="2133"/>
              </a:spcBef>
              <a:spcAft>
                <a:spcPts val="0"/>
              </a:spcAft>
              <a:buClr>
                <a:schemeClr val="lt1"/>
              </a:buClr>
              <a:buSzPts val="1800"/>
              <a:buFont typeface="Roboto Slab"/>
              <a:buAutoNum type="arabicPeriod"/>
            </a:pPr>
            <a:r>
              <a:rPr lang="en-US">
                <a:latin typeface="Roboto Slab"/>
                <a:ea typeface="Roboto Slab"/>
                <a:cs typeface="Roboto Slab"/>
                <a:sym typeface="Roboto Slab"/>
              </a:rPr>
              <a:t>DELETE  </a:t>
            </a:r>
            <a:r>
              <a:rPr lang="en-US" u="sng">
                <a:solidFill>
                  <a:schemeClr val="hlink"/>
                </a:solidFill>
                <a:latin typeface="Roboto Slab"/>
                <a:ea typeface="Roboto Slab"/>
                <a:cs typeface="Roboto Slab"/>
                <a:sym typeface="Roboto Slab"/>
                <a:hlinkClick r:id="rId3"/>
              </a:rPr>
              <a:t>http://www.example.com/customers/12345</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AutoNum type="arabicPeriod"/>
            </a:pPr>
            <a:r>
              <a:rPr lang="en-US">
                <a:latin typeface="Roboto Slab"/>
                <a:ea typeface="Roboto Slab"/>
                <a:cs typeface="Roboto Slab"/>
                <a:sym typeface="Roboto Slab"/>
              </a:rPr>
              <a:t>DELETE  </a:t>
            </a:r>
            <a:r>
              <a:rPr lang="en-US" u="sng">
                <a:solidFill>
                  <a:schemeClr val="hlink"/>
                </a:solidFill>
                <a:latin typeface="Roboto Slab"/>
                <a:ea typeface="Roboto Slab"/>
                <a:cs typeface="Roboto Slab"/>
                <a:sym typeface="Roboto Slab"/>
                <a:hlinkClick r:id="rId4"/>
              </a:rPr>
              <a:t>http://www.example.com/customers/12345/orders</a:t>
            </a:r>
            <a:endParaRPr>
              <a:latin typeface="Roboto Slab"/>
              <a:ea typeface="Roboto Slab"/>
              <a:cs typeface="Roboto Slab"/>
              <a:sym typeface="Roboto Slab"/>
            </a:endParaRPr>
          </a:p>
          <a:p>
            <a:pPr marL="609585" lvl="0" indent="-457188" algn="l" rtl="0">
              <a:lnSpc>
                <a:spcPct val="90000"/>
              </a:lnSpc>
              <a:spcBef>
                <a:spcPts val="0"/>
              </a:spcBef>
              <a:spcAft>
                <a:spcPts val="0"/>
              </a:spcAft>
              <a:buClr>
                <a:schemeClr val="lt1"/>
              </a:buClr>
              <a:buSzPts val="1800"/>
              <a:buFont typeface="Roboto Slab"/>
              <a:buAutoNum type="arabicPeriod"/>
            </a:pPr>
            <a:r>
              <a:rPr lang="en-US">
                <a:latin typeface="Roboto Slab"/>
                <a:ea typeface="Roboto Slab"/>
                <a:cs typeface="Roboto Slab"/>
                <a:sym typeface="Roboto Slab"/>
              </a:rPr>
              <a:t>DELETE </a:t>
            </a:r>
            <a:r>
              <a:rPr lang="en-US" u="sng">
                <a:solidFill>
                  <a:schemeClr val="hlink"/>
                </a:solidFill>
                <a:latin typeface="Roboto Slab"/>
                <a:ea typeface="Roboto Slab"/>
                <a:cs typeface="Roboto Slab"/>
                <a:sym typeface="Roboto Slab"/>
                <a:hlinkClick r:id="rId5"/>
              </a:rPr>
              <a:t>http://www.example.com/buckets/sample</a:t>
            </a:r>
            <a:r>
              <a:rPr lang="en-US">
                <a:latin typeface="Roboto Slab"/>
                <a:ea typeface="Roboto Slab"/>
                <a:cs typeface="Roboto Slab"/>
                <a:sym typeface="Roboto Slab"/>
              </a:rPr>
              <a:t> </a:t>
            </a:r>
            <a:endParaRPr>
              <a:latin typeface="Roboto Slab"/>
              <a:ea typeface="Roboto Slab"/>
              <a:cs typeface="Roboto Slab"/>
              <a:sym typeface="Roboto Slab"/>
            </a:endParaRPr>
          </a:p>
          <a:p>
            <a:pPr marL="0" lvl="0" indent="0" algn="l" rtl="0">
              <a:lnSpc>
                <a:spcPct val="90000"/>
              </a:lnSpc>
              <a:spcBef>
                <a:spcPts val="2133"/>
              </a:spcBef>
              <a:spcAft>
                <a:spcPts val="2133"/>
              </a:spcAft>
              <a:buClr>
                <a:schemeClr val="lt1"/>
              </a:buClr>
              <a:buSzPts val="1800"/>
              <a:buNone/>
            </a:pPr>
            <a:r>
              <a:rPr lang="en-US">
                <a:latin typeface="Roboto Slab"/>
                <a:ea typeface="Roboto Slab"/>
                <a:cs typeface="Roboto Slab"/>
                <a:sym typeface="Roboto Slab"/>
              </a:rPr>
              <a:t>DELETE is NOT safe.</a:t>
            </a:r>
            <a:endParaRPr>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0"/>
          <p:cNvSpPr txBox="1">
            <a:spLocks noGrp="1"/>
          </p:cNvSpPr>
          <p:nvPr>
            <p:ph type="title"/>
          </p:nvPr>
        </p:nvSpPr>
        <p:spPr>
          <a:xfrm>
            <a:off x="517200" y="610700"/>
            <a:ext cx="11157600" cy="914800"/>
          </a:xfrm>
          <a:prstGeom prst="rect">
            <a:avLst/>
          </a:prstGeom>
          <a:noFill/>
          <a:ln>
            <a:noFill/>
          </a:ln>
        </p:spPr>
        <p:txBody>
          <a:bodyPr spcFirstLastPara="1" wrap="square" lIns="121900" tIns="121900" rIns="121900" bIns="121900" anchor="b" anchorCtr="0">
            <a:noAutofit/>
          </a:bodyPr>
          <a:lstStyle/>
          <a:p>
            <a:pPr marL="0" lvl="0" indent="0" algn="l" rtl="0">
              <a:lnSpc>
                <a:spcPct val="90000"/>
              </a:lnSpc>
              <a:spcBef>
                <a:spcPts val="0"/>
              </a:spcBef>
              <a:spcAft>
                <a:spcPts val="0"/>
              </a:spcAft>
              <a:buClr>
                <a:schemeClr val="lt1"/>
              </a:buClr>
              <a:buSzPts val="3000"/>
              <a:buFont typeface="Calibri"/>
              <a:buNone/>
            </a:pPr>
            <a:r>
              <a:rPr lang="en-US"/>
              <a:t>Tools</a:t>
            </a:r>
            <a:endParaRPr/>
          </a:p>
        </p:txBody>
      </p:sp>
      <p:sp>
        <p:nvSpPr>
          <p:cNvPr id="225" name="Google Shape;225;p20"/>
          <p:cNvSpPr txBox="1">
            <a:spLocks noGrp="1"/>
          </p:cNvSpPr>
          <p:nvPr>
            <p:ph type="body" idx="1"/>
          </p:nvPr>
        </p:nvSpPr>
        <p:spPr>
          <a:xfrm>
            <a:off x="517200" y="1642665"/>
            <a:ext cx="11157600" cy="41052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lt1"/>
              </a:buClr>
              <a:buSzPts val="1800"/>
              <a:buNone/>
            </a:pPr>
            <a:r>
              <a:rPr lang="en-US" u="sng" dirty="0">
                <a:solidFill>
                  <a:schemeClr val="hlink"/>
                </a:solidFill>
                <a:latin typeface="Roboto Slab"/>
                <a:ea typeface="Roboto Slab"/>
                <a:cs typeface="Roboto Slab"/>
                <a:sym typeface="Roboto Slab"/>
                <a:hlinkClick r:id="rId3"/>
              </a:rPr>
              <a:t>Postman </a:t>
            </a:r>
            <a:r>
              <a:rPr lang="en-US" dirty="0">
                <a:latin typeface="Roboto Slab"/>
                <a:ea typeface="Roboto Slab"/>
                <a:cs typeface="Roboto Slab"/>
                <a:sym typeface="Roboto Slab"/>
              </a:rPr>
              <a:t>– stand alone application</a:t>
            </a:r>
            <a:endParaRPr dirty="0">
              <a:latin typeface="Roboto Slab"/>
              <a:ea typeface="Roboto Slab"/>
              <a:cs typeface="Roboto Slab"/>
              <a:sym typeface="Roboto Slab"/>
            </a:endParaRPr>
          </a:p>
          <a:p>
            <a:pPr marL="0" lvl="0" indent="0" algn="l" rtl="0">
              <a:lnSpc>
                <a:spcPct val="90000"/>
              </a:lnSpc>
              <a:spcBef>
                <a:spcPts val="2133"/>
              </a:spcBef>
              <a:spcAft>
                <a:spcPts val="0"/>
              </a:spcAft>
              <a:buClr>
                <a:schemeClr val="lt1"/>
              </a:buClr>
              <a:buSzPts val="1800"/>
              <a:buNone/>
            </a:pPr>
            <a:r>
              <a:rPr lang="en-US" u="sng" dirty="0">
                <a:solidFill>
                  <a:schemeClr val="hlink"/>
                </a:solidFill>
                <a:latin typeface="Roboto Slab"/>
                <a:ea typeface="Roboto Slab"/>
                <a:cs typeface="Roboto Slab"/>
                <a:sym typeface="Roboto Slab"/>
                <a:hlinkClick r:id="rId4"/>
              </a:rPr>
              <a:t>JSON editor </a:t>
            </a:r>
            <a:r>
              <a:rPr lang="en-US" dirty="0">
                <a:latin typeface="Roboto Slab"/>
                <a:ea typeface="Roboto Slab"/>
                <a:cs typeface="Roboto Slab"/>
                <a:sym typeface="Roboto Slab"/>
              </a:rPr>
              <a:t>– </a:t>
            </a:r>
            <a:r>
              <a:rPr lang="en-US" dirty="0" err="1">
                <a:latin typeface="Roboto Slab"/>
                <a:ea typeface="Roboto Slab"/>
                <a:cs typeface="Roboto Slab"/>
                <a:sym typeface="Roboto Slab"/>
              </a:rPr>
              <a:t>broswer</a:t>
            </a:r>
            <a:r>
              <a:rPr lang="en-US" dirty="0">
                <a:latin typeface="Roboto Slab"/>
                <a:ea typeface="Roboto Slab"/>
                <a:cs typeface="Roboto Slab"/>
                <a:sym typeface="Roboto Slab"/>
              </a:rPr>
              <a:t> extension or as stand alone app</a:t>
            </a:r>
            <a:endParaRPr dirty="0">
              <a:latin typeface="Roboto Slab"/>
              <a:ea typeface="Roboto Slab"/>
              <a:cs typeface="Roboto Slab"/>
              <a:sym typeface="Roboto Slab"/>
            </a:endParaRPr>
          </a:p>
          <a:p>
            <a:pPr marL="0" lvl="0" indent="0" algn="l" rtl="0">
              <a:lnSpc>
                <a:spcPct val="90000"/>
              </a:lnSpc>
              <a:spcBef>
                <a:spcPts val="2133"/>
              </a:spcBef>
              <a:spcAft>
                <a:spcPts val="2133"/>
              </a:spcAft>
              <a:buClr>
                <a:schemeClr val="lt1"/>
              </a:buClr>
              <a:buSzPts val="1800"/>
              <a:buNone/>
            </a:pPr>
            <a:r>
              <a:rPr lang="en-US" dirty="0" smtClean="0">
                <a:latin typeface="Roboto Slab"/>
                <a:ea typeface="Roboto Slab"/>
                <a:cs typeface="Roboto Slab"/>
                <a:sym typeface="Roboto Slab"/>
              </a:rPr>
              <a:t>Browser</a:t>
            </a:r>
          </a:p>
          <a:p>
            <a:pPr marL="0" lvl="0" indent="0" algn="l" rtl="0">
              <a:lnSpc>
                <a:spcPct val="90000"/>
              </a:lnSpc>
              <a:spcBef>
                <a:spcPts val="2133"/>
              </a:spcBef>
              <a:spcAft>
                <a:spcPts val="2133"/>
              </a:spcAft>
              <a:buClr>
                <a:schemeClr val="lt1"/>
              </a:buClr>
              <a:buSzPts val="1800"/>
              <a:buNone/>
            </a:pPr>
            <a:r>
              <a:rPr lang="en-US" dirty="0" smtClean="0">
                <a:latin typeface="Roboto Slab"/>
                <a:ea typeface="Roboto Slab"/>
                <a:cs typeface="Roboto Slab"/>
                <a:sym typeface="Roboto Slab"/>
              </a:rPr>
              <a:t>CURL</a:t>
            </a:r>
            <a:endParaRPr dirty="0">
              <a:latin typeface="Roboto Slab"/>
              <a:ea typeface="Roboto Slab"/>
              <a:cs typeface="Roboto Slab"/>
              <a:sym typeface="Roboto Slab"/>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Summary</a:t>
            </a:r>
            <a:endParaRPr/>
          </a:p>
        </p:txBody>
      </p:sp>
      <p:sp>
        <p:nvSpPr>
          <p:cNvPr id="231" name="Google Shape;23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lt1"/>
              </a:buClr>
              <a:buSzPts val="2800"/>
              <a:buChar char="•"/>
            </a:pPr>
            <a:r>
              <a:rPr lang="en-US" dirty="0" smtClean="0"/>
              <a:t>URI </a:t>
            </a:r>
            <a:r>
              <a:rPr lang="en-US" dirty="0"/>
              <a:t>vs. URL</a:t>
            </a:r>
            <a:endParaRPr dirty="0"/>
          </a:p>
          <a:p>
            <a:pPr marL="228600" lvl="0" indent="-228600" algn="l" rtl="0">
              <a:lnSpc>
                <a:spcPct val="90000"/>
              </a:lnSpc>
              <a:spcBef>
                <a:spcPts val="1000"/>
              </a:spcBef>
              <a:spcAft>
                <a:spcPts val="0"/>
              </a:spcAft>
              <a:buClr>
                <a:schemeClr val="lt1"/>
              </a:buClr>
              <a:buSzPts val="2800"/>
              <a:buChar char="•"/>
            </a:pPr>
            <a:r>
              <a:rPr lang="en-US" dirty="0"/>
              <a:t>API – Application Programming Interface</a:t>
            </a:r>
            <a:endParaRPr dirty="0"/>
          </a:p>
          <a:p>
            <a:pPr marL="228600" lvl="0" indent="-228600" algn="l" rtl="0">
              <a:lnSpc>
                <a:spcPct val="90000"/>
              </a:lnSpc>
              <a:spcBef>
                <a:spcPts val="1000"/>
              </a:spcBef>
              <a:spcAft>
                <a:spcPts val="0"/>
              </a:spcAft>
              <a:buClr>
                <a:schemeClr val="lt1"/>
              </a:buClr>
              <a:buSzPts val="2800"/>
              <a:buChar char="•"/>
            </a:pPr>
            <a:r>
              <a:rPr lang="en-US" dirty="0"/>
              <a:t>REST(</a:t>
            </a:r>
            <a:r>
              <a:rPr lang="en-US" dirty="0" err="1"/>
              <a:t>ful</a:t>
            </a:r>
            <a:r>
              <a:rPr lang="en-US" dirty="0"/>
              <a:t>) APIs, and examples</a:t>
            </a:r>
            <a:endParaRPr dirty="0"/>
          </a:p>
          <a:p>
            <a:pPr marL="228600" lvl="0" indent="-50800" algn="l" rtl="0">
              <a:lnSpc>
                <a:spcPct val="90000"/>
              </a:lnSpc>
              <a:spcBef>
                <a:spcPts val="1000"/>
              </a:spcBef>
              <a:spcAft>
                <a:spcPts val="0"/>
              </a:spcAft>
              <a:buClr>
                <a:schemeClr val="lt1"/>
              </a:buClr>
              <a:buSzPts val="2800"/>
              <a:buNone/>
            </a:pPr>
            <a:endParaRP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t>References</a:t>
            </a:r>
            <a:endParaRPr/>
          </a:p>
        </p:txBody>
      </p:sp>
      <p:sp>
        <p:nvSpPr>
          <p:cNvPr id="237" name="Google Shape;237;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800"/>
              <a:buChar char="•"/>
            </a:pPr>
            <a:r>
              <a:rPr lang="en-US" u="sng">
                <a:solidFill>
                  <a:schemeClr val="hlink"/>
                </a:solidFill>
                <a:hlinkClick r:id="rId3"/>
              </a:rPr>
              <a:t>https://dl.acm.org/doi/10.1145/514183.514185</a:t>
            </a:r>
            <a:endParaRPr/>
          </a:p>
          <a:p>
            <a:pPr marL="228600" lvl="0" indent="-228600" algn="l" rtl="0">
              <a:lnSpc>
                <a:spcPct val="90000"/>
              </a:lnSpc>
              <a:spcBef>
                <a:spcPts val="1000"/>
              </a:spcBef>
              <a:spcAft>
                <a:spcPts val="0"/>
              </a:spcAft>
              <a:buClr>
                <a:schemeClr val="lt1"/>
              </a:buClr>
              <a:buSzPts val="2800"/>
              <a:buChar char="•"/>
            </a:pPr>
            <a:r>
              <a:rPr lang="en-US" u="sng">
                <a:solidFill>
                  <a:schemeClr val="hlink"/>
                </a:solidFill>
                <a:hlinkClick r:id="rId4"/>
              </a:rPr>
              <a:t>https://martinfowler.com/articles/richardsonMaturityModel.html</a:t>
            </a:r>
            <a:endParaRPr/>
          </a:p>
          <a:p>
            <a:pPr marL="228600" lvl="0" indent="-228600" algn="l" rtl="0">
              <a:lnSpc>
                <a:spcPct val="90000"/>
              </a:lnSpc>
              <a:spcBef>
                <a:spcPts val="1000"/>
              </a:spcBef>
              <a:spcAft>
                <a:spcPts val="0"/>
              </a:spcAft>
              <a:buClr>
                <a:schemeClr val="lt1"/>
              </a:buClr>
              <a:buSzPts val="2800"/>
              <a:buChar char="•"/>
            </a:pPr>
            <a:r>
              <a:rPr lang="en-US"/>
              <a:t>Pautasso C. (2014) RESTful Web Services: Principles, Patterns, Emerging Technologies. In: Bouguettaya A., Sheng Q., Daniel F. (eds) Web Services Foundations. Springer, New York, NY. https://doi.org/10.1007/978-1-4614-7518-7_2</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995</Words>
  <Application>Microsoft Office PowerPoint</Application>
  <PresentationFormat>Widescreen</PresentationFormat>
  <Paragraphs>137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Roboto Slab</vt:lpstr>
      <vt:lpstr>Arial</vt:lpstr>
      <vt:lpstr>1_Office Theme</vt:lpstr>
      <vt:lpstr>INF221 - Web Design &amp; Development: REST</vt:lpstr>
      <vt:lpstr>Introductions</vt:lpstr>
      <vt:lpstr>APIs</vt:lpstr>
      <vt:lpstr>APIs vs. SDKs</vt:lpstr>
      <vt:lpstr>URI vs. URL</vt:lpstr>
      <vt:lpstr>URI vs. URL…</vt:lpstr>
      <vt:lpstr>URI vs. URL…</vt:lpstr>
      <vt:lpstr>API – Application Programming Interfaces</vt:lpstr>
      <vt:lpstr>RESTful APIs</vt:lpstr>
      <vt:lpstr>RESTful APIs</vt:lpstr>
      <vt:lpstr>REST resources</vt:lpstr>
      <vt:lpstr>Endpoint</vt:lpstr>
      <vt:lpstr>Hypermedia</vt:lpstr>
      <vt:lpstr>HTTP Verbs</vt:lpstr>
      <vt:lpstr>HTTP Verbs (CRUD)</vt:lpstr>
      <vt:lpstr>GET verb</vt:lpstr>
      <vt:lpstr>PUT verb</vt:lpstr>
      <vt:lpstr>POST verb</vt:lpstr>
      <vt:lpstr>DELETE verb</vt:lpstr>
      <vt:lpstr>Tools</vt:lpstr>
      <vt:lpstr>Summary</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INF221 - Web Design &amp; Development: REST</dc:title>
  <dc:creator>Microsoft account</dc:creator>
  <cp:lastModifiedBy>user</cp:lastModifiedBy>
  <cp:revision>3</cp:revision>
  <dcterms:created xsi:type="dcterms:W3CDTF">2020-11-08T16:57:34Z</dcterms:created>
  <dcterms:modified xsi:type="dcterms:W3CDTF">2021-12-14T17:34:18Z</dcterms:modified>
</cp:coreProperties>
</file>